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Quelles parties d'une puce vont ensemble ? C'est la question à laquelle répond ce lab. Une puce est faite de millions de minuscules éléments appelés cellules. Avant de les placer, un ordinateur doit savoir quelles cellules aiment rester proches. Cette attirance est un nombre, qu'on appelle l'affinité. Dans ce lab, vous allez découvrir trois façons de la calculer, et voir pourquoi ce choix compte.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puce contient des cellules, les petites briques du circuit. Les cellules communiquent entre elles par des fils. On dessine chaque cellule comme un point, appelé nœud. Un trait entre deux points est une arête : les deux cellules sont reliées. Le nombre sur une arête est son poids : combien de fils relient la paire. Ainsi, A–B a un poids de cinq : cinq fils relient A et B. Ce dessin s'appelle un graphe, et c'est la carte sur laquelle travaillent tous les algorithmes de ce cours.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cellules qui échangent beaucoup de signaux doivent être proches. Des fils courts rendent la puce plus rapide et économisent de l'énergie. Regrouper les cellules proches s'appelle le clustering, et chaque groupe est un cluster. Pensez à un plan de classe : les amis qui discutent beaucoup s'assoient ensemble. Ici, A, B et C forment un groupe, et D et E en forment un autre. Seules les arêtes rouges passent d'un groupe à l'autre, et on en veut le moins possible.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L'affinité est un score donné à chaque paire de cellules. Un score élevé veut dire que ces deux-là doivent être dans le même groupe. Un score faible veut dire qu'elles peuvent être séparées. Les algorithmes de clustering fusionnent d'abord la paire qui a le meilleur score. La recette du score décide donc de tout ce qui suit. Ce lab compare trois recettes sur le même petit exemple.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notre exemple pour tout le lab : cinq cellules, de A à E. Les arêtes lourdes sont A–B et D–E, avec un poids de cinq chacune. C est au milieu, avec des liens plus fins vers les autres. Gardez cette image en tête : nous allons donner un score à chaque paire de cellules de ce graphe.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première recette est la plus simple. Le score d'une paire est simplement le poids de l'arête qui les relie. Ensuite, on trie les paires du plus grand au plus petit score, comme un classement sportif. A–B et D–E sont à égalité, à cinq. Quand deux scores sont égaux, on les départage par ordre alphabétique : A–B passe donc en premier. Ce départage fixe est important : il garantit que l'ordinateur donne toujours la même réponse.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recette ajoute une idée de la vie de tous les jours : les amis de nos amis. Si deux personnes ont un ami proche en commun, elles sont sans doute proches aussi. A et B sont reliés directement, avec un poids de cinq. Ils ont aussi un voisin en commun : C. On ajoute le plus faible des deux liens qui passent par C, c'est-à-dire un, donc A–B monte à six. Pourquoi le plus faible ? Parce qu'une chaîne n'est jamais plus solide que son maillon le plus faible.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la deuxième recette, A–B et D–E restent en tête, maintenant à six. Mais regardez A–C : seule, c'était une arête faible de poids un, et maintenant elle bondit à cinq, grâce à B. Même des paires sans aucune arête, comme B–D, obtiennent un score, parce qu'elles ont un voisin en commun.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signifie conception électronique automatisée : ce sont les logiciels qui conçoivent les puces. En EDA, l'affinité est la préférence locale : quelles cellules vont ensemble, avant toute règle sur la puce entière. Une mauvaise affinité donne de mauvaises fusions, et les corriger ensuite est bien plus difficile.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Calculons un score ensemble, étape par étape. Étape un : l'arête directe A–C a un poids de un. Étape deux : A et C ont un voisin en commun, B. Les liens qui passent par B pèsent cinq et quatre, on garde le plus petit : quatre. Étape trois : on additionne, un plus quatre font cinq. Seule, A–C était faible, mais elle devient forte grâce à son ami commun.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la deuxième recette, notre petit graphe donne dix paires au lieu de six. Quatre d'entre elles n'ont aucun fil entre elles. Par exemple, B et D ne sont pas reliés, mais tous les deux sont reliés à C. B–D obtient donc le plus faible de ces deux liens : deux. C'est comme deux personnes qui ne se sont jamais vues mais ont le même meilleur ami. Seules les paires dont le score vaudrait zéro sont exclues.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 deuxième recette écrite sous forme d'étapes qu'un ordinateur peut suivre. D'abord, chaque arête ajoute son poids à sa propre paire. Ensuite, pour chaque paire de nœuds, on regarde chaque voisin qu'ils ont en commun. Pour chaque voisin commun, on ajoute le plus petit de ses deux liens. On garde chaque paire dont le score finit au-dessus de zéro. Enfin, on trie par score décroissant et on départage les égalités par ordre alphabétique.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un deuxième exemple qui montre pourquoi la recette compte. Prenons un triangle serré P, Q, R, dont chaque arête pèse quatre. À côté, une paire isolée X–Y a un poids de cinq. La première recette choisit X–Y, car cinq bat quatre. La deuxième donne à P–Q quatre, plus quatre via R : huit. P–Q passe donc en premier. Même graphe, même règle de fusion, mais une première fusion différente.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une vraie puce, un même fil peut relier plusieurs cellules à la fois. Un tel fil partagé s'appelle un net, et chaque cellule qu'il touche est une broche. Pensez à une discussion de groupe à cinquante : elle en dit peu sur qui est ami avec qui. Un message privé entre deux personnes en dit beaucoup plus. La troisième recette fonctionne pareil : chaque net partage son poids entre ses broches. La règle : le poids divisé par le nombre de broches moins un. Ici, les nets enable et reset touchent cinq cellules chacun, ils ne donnent donc qu'un quart à chaque paire. Le net privé entre E et F donne tout son poids, c'est-à-dire un.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vous maintenant de calculer des scores, dans le lab du navigateur. Cliquez sur deux nœuds pour choisir une paire, même une paire sans arête, calculez son score à la main, puis saisissez-le. Le lab vous dit tout de suite si c'est juste. Vous pouvez aussi construire votre propre classement, une paire à la fois, et modifier les poids des arêtes pour voir quelle paire fusionne en premier. Les dix défis vont du plus facile au plus difficile. Si vous bloquez, le bouton de détail montre le calcul, mais cette réponse ne compte plus pour le défi.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vous aimez programmer, le parcours implémentation est fait pour vous. D'abord, affichez les deux classements avec le programme de référence, pour le graphe de départ puis pour le graphe de priorité. Ensuite, écrivez vos trois fonctions de score en Python. Enfin, lancez le vérificateur sur votre fichier. Il compare vos réponses aux bonnes, et il fournit les arêtes dans le désordre : un départage oublié apparaît donc comme un échec.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à quatre erreurs fréquentes. Compter deux fois une arête, une fois depuis chaque extrémité. Ajouter le lien le plus fort au lieu du plus faible : tout semble alors proche de tout. Oublier le départage : A–B et D–E changent de place d'une exécution à l'autre. Et compter les grands nets partagés à plein poids, ce qui colle des cellules sans rapport.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Recette un, le poids d'arête : on ne regarde que le fil direct. Recette deux, les voisins communs : on ajoute l'aide des amis communs. Recette trois, le nombre de broches : un grand net partagé compte moins qu'un net privé. Les égalités se départagent par ordre alphabétique, donc les résultats ne changent jamais. Des recettes différentes peuvent choisir une première fusion différente. Choisir la recette est une décision de conception, pas un détail.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Essayez les défis du lab, ou écrivez les trois recettes et passez le vérificateur. Puis expliquez deux choses avec vos propres mots. D'abord, pourquoi A–C monte-t-elle avec la deuxième recette ? Ensuite, pourquoi le graphe de priorité change-t-il sa première fusion ? Faites le petit quiz, puis passez à la fusion gloutonne par paires. Là, ces scores deviennent la règle de fusion.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Métriques d'affinité</a:t>
            </a:r>
          </a:p>
          <a:p>
            <a:pPr algn="ctr">
              <a:lnSpc>
                <a:spcPts val="2200"/>
              </a:lnSpc>
              <a:spcBef>
                <a:spcPts val="1400"/>
              </a:spcBef>
            </a:pPr>
            <a:r>
              <a:rPr sz="2600" b="0">
                <a:solidFill>
                  <a:srgbClr val="333333"/>
                </a:solidFill>
                <a:latin typeface="Calibri"/>
              </a:rPr>
              <a:t>Quelles parties d'une puce vont ensemble ?</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D'une puce à un graphe</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Une puce contient des cellules, les petites briques du circuit</a:t>
            </a:r>
          </a:p>
          <a:p>
            <a:pPr lvl="0" marL="457200" indent="-228600">
              <a:buFont typeface="Calibri"/>
              <a:spcAft>
                <a:spcPts val="1000"/>
              </a:spcAft>
              <a:buSzPct val="100000"/>
              <a:buChar char="•"/>
              <a:lnSpc>
                <a:spcPts val="2200"/>
              </a:lnSpc>
            </a:pPr>
            <a:r>
              <a:rPr sz="2000" b="0">
                <a:solidFill>
                  <a:srgbClr val="333333"/>
                </a:solidFill>
                <a:latin typeface="Calibri"/>
              </a:rPr>
              <a:t>Les cellules communiquent entre elles par des fils</a:t>
            </a:r>
          </a:p>
          <a:p>
            <a:pPr lvl="0" marL="457200" indent="-228600">
              <a:buFont typeface="Calibri"/>
              <a:spcAft>
                <a:spcPts val="1000"/>
              </a:spcAft>
              <a:buSzPct val="100000"/>
              <a:buChar char="•"/>
              <a:lnSpc>
                <a:spcPts val="2200"/>
              </a:lnSpc>
            </a:pPr>
            <a:r>
              <a:rPr sz="2000" b="0">
                <a:solidFill>
                  <a:srgbClr val="333333"/>
                </a:solidFill>
                <a:latin typeface="Calibri"/>
              </a:rPr>
              <a:t>On dessine chaque cellule comme un point, appelé nœud</a:t>
            </a:r>
          </a:p>
          <a:p>
            <a:pPr lvl="0" marL="457200" indent="-228600">
              <a:buFont typeface="Calibri"/>
              <a:spcAft>
                <a:spcPts val="1000"/>
              </a:spcAft>
              <a:buSzPct val="100000"/>
              <a:buChar char="•"/>
              <a:lnSpc>
                <a:spcPts val="2200"/>
              </a:lnSpc>
            </a:pPr>
            <a:r>
              <a:rPr sz="2000" b="0">
                <a:solidFill>
                  <a:srgbClr val="333333"/>
                </a:solidFill>
                <a:latin typeface="Calibri"/>
              </a:rPr>
              <a:t>Un trait entre deux points est une arête : les deux cellules sont reliées</a:t>
            </a:r>
          </a:p>
          <a:p>
            <a:pPr lvl="0" marL="457200" indent="-228600">
              <a:buFont typeface="Calibri"/>
              <a:spcAft>
                <a:spcPts val="1000"/>
              </a:spcAft>
              <a:buSzPct val="100000"/>
              <a:buChar char="•"/>
              <a:lnSpc>
                <a:spcPts val="2200"/>
              </a:lnSpc>
            </a:pPr>
            <a:r>
              <a:rPr sz="2000" b="0">
                <a:solidFill>
                  <a:srgbClr val="333333"/>
                </a:solidFill>
                <a:latin typeface="Calibri"/>
              </a:rPr>
              <a:t>Le nombre sur une arête est son poids : combien de fils relient la paire</a:t>
            </a:r>
          </a:p>
          <a:p>
            <a:pPr lvl="0" marL="457200" indent="-228600">
              <a:buFont typeface="Calibri"/>
              <a:spcAft>
                <a:spcPts val="1000"/>
              </a:spcAft>
              <a:buSzPct val="100000"/>
              <a:buChar char="•"/>
              <a:lnSpc>
                <a:spcPts val="2200"/>
              </a:lnSpc>
            </a:pPr>
            <a:r>
              <a:rPr sz="2000" b="0">
                <a:solidFill>
                  <a:srgbClr val="333333"/>
                </a:solidFill>
                <a:latin typeface="Calibri"/>
              </a:rPr>
              <a:t>Ainsi, A–B a un poids de cinq : cinq fils relient A et B</a:t>
            </a:r>
          </a:p>
        </p:txBody>
      </p:sp>
      <p:pic>
        <p:nvPicPr>
          <p:cNvPr id="4" name="Picture 3" descr="chip-to-graph.png"/>
          <p:cNvPicPr>
            <a:picLocks noChangeAspect="1"/>
          </p:cNvPicPr>
          <p:nvPr/>
        </p:nvPicPr>
        <p:blipFill>
          <a:blip r:embed="rId2"/>
          <a:stretch>
            <a:fillRect/>
          </a:stretch>
        </p:blipFill>
        <p:spPr>
          <a:xfrm>
            <a:off x="6172200" y="1234440"/>
            <a:ext cx="3823019" cy="475488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Pourquoi regrouper les cellules ?</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Les cellules qui échangent beaucoup de signaux doivent être proches</a:t>
            </a:r>
          </a:p>
          <a:p>
            <a:pPr lvl="0" marL="457200" indent="-228600">
              <a:buFont typeface="Calibri"/>
              <a:spcAft>
                <a:spcPts val="1000"/>
              </a:spcAft>
              <a:buSzPct val="100000"/>
              <a:buChar char="•"/>
              <a:lnSpc>
                <a:spcPts val="2200"/>
              </a:lnSpc>
            </a:pPr>
            <a:r>
              <a:rPr sz="2000" b="0">
                <a:solidFill>
                  <a:srgbClr val="333333"/>
                </a:solidFill>
                <a:latin typeface="Calibri"/>
              </a:rPr>
              <a:t>Des fils courts rendent la puce plus rapide et économisent de l'énergie</a:t>
            </a:r>
          </a:p>
          <a:p>
            <a:pPr lvl="0" marL="457200" indent="-228600">
              <a:buFont typeface="Calibri"/>
              <a:spcAft>
                <a:spcPts val="1000"/>
              </a:spcAft>
              <a:buSzPct val="100000"/>
              <a:buChar char="•"/>
              <a:lnSpc>
                <a:spcPts val="2200"/>
              </a:lnSpc>
            </a:pPr>
            <a:r>
              <a:rPr sz="2000" b="0">
                <a:solidFill>
                  <a:srgbClr val="333333"/>
                </a:solidFill>
                <a:latin typeface="Calibri"/>
              </a:rPr>
              <a:t>Regrouper les cellules proches s'appelle le clustering, et chaque groupe est un cluster</a:t>
            </a:r>
          </a:p>
          <a:p>
            <a:pPr lvl="0" marL="457200" indent="-228600">
              <a:buFont typeface="Calibri"/>
              <a:spcAft>
                <a:spcPts val="1000"/>
              </a:spcAft>
              <a:buSzPct val="100000"/>
              <a:buChar char="•"/>
              <a:lnSpc>
                <a:spcPts val="2200"/>
              </a:lnSpc>
            </a:pPr>
            <a:r>
              <a:rPr sz="2000" b="0">
                <a:solidFill>
                  <a:srgbClr val="333333"/>
                </a:solidFill>
                <a:latin typeface="Calibri"/>
              </a:rPr>
              <a:t>Pensez à un plan de classe : les amis qui discutent beaucoup s'assoient ensemble</a:t>
            </a:r>
          </a:p>
          <a:p>
            <a:pPr lvl="0" marL="457200" indent="-228600">
              <a:buFont typeface="Calibri"/>
              <a:spcAft>
                <a:spcPts val="1000"/>
              </a:spcAft>
              <a:buSzPct val="100000"/>
              <a:buChar char="•"/>
              <a:lnSpc>
                <a:spcPts val="2200"/>
              </a:lnSpc>
            </a:pPr>
            <a:r>
              <a:rPr sz="2000" b="0">
                <a:solidFill>
                  <a:srgbClr val="333333"/>
                </a:solidFill>
                <a:latin typeface="Calibri"/>
              </a:rPr>
              <a:t>Ici, A, B et C forment un groupe, et D et E en forment un autre</a:t>
            </a:r>
          </a:p>
          <a:p>
            <a:pPr lvl="0" marL="457200" indent="-228600">
              <a:buFont typeface="Calibri"/>
              <a:spcAft>
                <a:spcPts val="1000"/>
              </a:spcAft>
              <a:buSzPct val="100000"/>
              <a:buChar char="•"/>
              <a:lnSpc>
                <a:spcPts val="2200"/>
              </a:lnSpc>
            </a:pPr>
            <a:r>
              <a:rPr sz="2000" b="0">
                <a:solidFill>
                  <a:srgbClr val="333333"/>
                </a:solidFill>
                <a:latin typeface="Calibri"/>
              </a:rPr>
              <a:t>Seules les arêtes rouges passent d'un groupe à l'autre, et on en veut le moins possible</a:t>
            </a:r>
          </a:p>
        </p:txBody>
      </p:sp>
      <p:pic>
        <p:nvPicPr>
          <p:cNvPr id="4" name="Picture 3" descr="clustering-groups.png"/>
          <p:cNvPicPr>
            <a:picLocks noChangeAspect="1"/>
          </p:cNvPicPr>
          <p:nvPr/>
        </p:nvPicPr>
        <p:blipFill>
          <a:blip r:embed="rId2"/>
          <a:stretch>
            <a:fillRect/>
          </a:stretch>
        </p:blipFill>
        <p:spPr>
          <a:xfrm>
            <a:off x="6172200" y="1470755"/>
            <a:ext cx="5394960" cy="428225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Qu'est-ce que l'affinité ?</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L'affinité est un score donné à chaque paire de cellules</a:t>
            </a:r>
          </a:p>
          <a:p>
            <a:pPr lvl="0" marL="457200" indent="-228600">
              <a:buFont typeface="Calibri"/>
              <a:spcAft>
                <a:spcPts val="1000"/>
              </a:spcAft>
              <a:buSzPct val="100000"/>
              <a:buChar char="•"/>
              <a:lnSpc>
                <a:spcPts val="2200"/>
              </a:lnSpc>
            </a:pPr>
            <a:r>
              <a:rPr sz="2000" b="0">
                <a:solidFill>
                  <a:srgbClr val="333333"/>
                </a:solidFill>
                <a:latin typeface="Calibri"/>
              </a:rPr>
              <a:t>Un score élevé veut dire que ces deux-là doivent être dans le même groupe</a:t>
            </a:r>
          </a:p>
          <a:p>
            <a:pPr lvl="0" marL="457200" indent="-228600">
              <a:buFont typeface="Calibri"/>
              <a:spcAft>
                <a:spcPts val="1000"/>
              </a:spcAft>
              <a:buSzPct val="100000"/>
              <a:buChar char="•"/>
              <a:lnSpc>
                <a:spcPts val="2200"/>
              </a:lnSpc>
            </a:pPr>
            <a:r>
              <a:rPr sz="2000" b="0">
                <a:solidFill>
                  <a:srgbClr val="333333"/>
                </a:solidFill>
                <a:latin typeface="Calibri"/>
              </a:rPr>
              <a:t>Un score faible veut dire qu'elles peuvent être séparées</a:t>
            </a:r>
          </a:p>
          <a:p>
            <a:pPr lvl="0" marL="457200" indent="-228600">
              <a:buFont typeface="Calibri"/>
              <a:spcAft>
                <a:spcPts val="1000"/>
              </a:spcAft>
              <a:buSzPct val="100000"/>
              <a:buChar char="•"/>
              <a:lnSpc>
                <a:spcPts val="2200"/>
              </a:lnSpc>
            </a:pPr>
            <a:r>
              <a:rPr sz="2000" b="0">
                <a:solidFill>
                  <a:srgbClr val="333333"/>
                </a:solidFill>
                <a:latin typeface="Calibri"/>
              </a:rPr>
              <a:t>Les algorithmes de clustering fusionnent d'abord la paire qui a le meilleur score</a:t>
            </a:r>
          </a:p>
          <a:p>
            <a:pPr lvl="0" marL="457200" indent="-228600">
              <a:buFont typeface="Calibri"/>
              <a:spcAft>
                <a:spcPts val="1000"/>
              </a:spcAft>
              <a:buSzPct val="100000"/>
              <a:buChar char="•"/>
              <a:lnSpc>
                <a:spcPts val="2200"/>
              </a:lnSpc>
            </a:pPr>
            <a:r>
              <a:rPr sz="2000" b="0">
                <a:solidFill>
                  <a:srgbClr val="333333"/>
                </a:solidFill>
                <a:latin typeface="Calibri"/>
              </a:rPr>
              <a:t>La recette du score décide donc de tout ce qui suit</a:t>
            </a:r>
          </a:p>
          <a:p>
            <a:pPr lvl="0" marL="457200" indent="-228600">
              <a:buFont typeface="Calibri"/>
              <a:spcAft>
                <a:spcPts val="1000"/>
              </a:spcAft>
              <a:buSzPct val="100000"/>
              <a:buChar char="•"/>
              <a:lnSpc>
                <a:spcPts val="2200"/>
              </a:lnSpc>
            </a:pPr>
            <a:r>
              <a:rPr sz="2000" b="0">
                <a:solidFill>
                  <a:srgbClr val="333333"/>
                </a:solidFill>
                <a:latin typeface="Calibri"/>
              </a:rPr>
              <a:t>Ce lab compare trois recettes sur le même petit exemple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 petit graphe pondéré</a:t>
            </a:r>
          </a:p>
        </p:txBody>
      </p:sp>
      <p:pic>
        <p:nvPicPr>
          <p:cNvPr id="3" name="Picture 2" descr="01-raw-graph.png"/>
          <p:cNvPicPr>
            <a:picLocks noChangeAspect="1"/>
          </p:cNvPicPr>
          <p:nvPr/>
        </p:nvPicPr>
        <p:blipFill>
          <a:blip r:embed="rId2"/>
          <a:stretch>
            <a:fillRect/>
          </a:stretch>
        </p:blipFill>
        <p:spPr>
          <a:xfrm>
            <a:off x="548640" y="1143000"/>
            <a:ext cx="674675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Un petit graphe pondéré</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L'affinité par poids d'arête classe les paires</a:t>
            </a:r>
          </a:p>
        </p:txBody>
      </p:sp>
      <p:pic>
        <p:nvPicPr>
          <p:cNvPr id="3" name="Picture 2" descr="02-edge-rank.png"/>
          <p:cNvPicPr>
            <a:picLocks noChangeAspect="1"/>
          </p:cNvPicPr>
          <p:nvPr/>
        </p:nvPicPr>
        <p:blipFill>
          <a:blip r:embed="rId2"/>
          <a:stretch>
            <a:fillRect/>
          </a:stretch>
        </p:blipFill>
        <p:spPr>
          <a:xfrm>
            <a:off x="548640" y="1143000"/>
            <a:ext cx="674675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L'affinité par poids d'arête classe les paires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Les voisins communs renforcent A–B</a:t>
            </a:r>
          </a:p>
        </p:txBody>
      </p:sp>
      <p:pic>
        <p:nvPicPr>
          <p:cNvPr id="3" name="Picture 2" descr="03-shared-idea.png"/>
          <p:cNvPicPr>
            <a:picLocks noChangeAspect="1"/>
          </p:cNvPicPr>
          <p:nvPr/>
        </p:nvPicPr>
        <p:blipFill>
          <a:blip r:embed="rId2"/>
          <a:stretch>
            <a:fillRect/>
          </a:stretch>
        </p:blipFill>
        <p:spPr>
          <a:xfrm>
            <a:off x="548640" y="1143000"/>
            <a:ext cx="674675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Les voisins communs renforcent A–B</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 classement par voisins communs rebat les cartes</a:t>
            </a:r>
          </a:p>
        </p:txBody>
      </p:sp>
      <p:pic>
        <p:nvPicPr>
          <p:cNvPr id="3" name="Picture 2" descr="04-shared-rank.png"/>
          <p:cNvPicPr>
            <a:picLocks noChangeAspect="1"/>
          </p:cNvPicPr>
          <p:nvPr/>
        </p:nvPicPr>
        <p:blipFill>
          <a:blip r:embed="rId2"/>
          <a:stretch>
            <a:fillRect/>
          </a:stretch>
        </p:blipFill>
        <p:spPr>
          <a:xfrm>
            <a:off x="548640" y="1143000"/>
            <a:ext cx="674675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Le classement par voisins communs rebat les cartes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Pourquoi l'affinité compte en EDA</a:t>
            </a:r>
          </a:p>
        </p:txBody>
      </p:sp>
      <p:pic>
        <p:nvPicPr>
          <p:cNvPr id="3" name="Picture 2" descr="05-takeaway.png"/>
          <p:cNvPicPr>
            <a:picLocks noChangeAspect="1"/>
          </p:cNvPicPr>
          <p:nvPr/>
        </p:nvPicPr>
        <p:blipFill>
          <a:blip r:embed="rId2"/>
          <a:stretch>
            <a:fillRect/>
          </a:stretch>
        </p:blipFill>
        <p:spPr>
          <a:xfrm>
            <a:off x="548640" y="1143000"/>
            <a:ext cx="674675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Pourquoi l'affinité compte en EDA</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Exemple résolu : le score de A–C</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Calculons un score ensemble, étape par étape</a:t>
            </a:r>
          </a:p>
          <a:p>
            <a:pPr lvl="0" marL="457200" indent="-228600">
              <a:buFont typeface="Calibri"/>
              <a:spcAft>
                <a:spcPts val="1000"/>
              </a:spcAft>
              <a:buSzPct val="100000"/>
              <a:buChar char="•"/>
              <a:lnSpc>
                <a:spcPts val="2200"/>
              </a:lnSpc>
            </a:pPr>
            <a:r>
              <a:rPr sz="2000" b="0">
                <a:solidFill>
                  <a:srgbClr val="333333"/>
                </a:solidFill>
                <a:latin typeface="Calibri"/>
              </a:rPr>
              <a:t>Étape un : l'arête directe A–C a un poids de un</a:t>
            </a:r>
          </a:p>
          <a:p>
            <a:pPr lvl="0" marL="457200" indent="-228600">
              <a:buFont typeface="Calibri"/>
              <a:spcAft>
                <a:spcPts val="1000"/>
              </a:spcAft>
              <a:buSzPct val="100000"/>
              <a:buChar char="•"/>
              <a:lnSpc>
                <a:spcPts val="2200"/>
              </a:lnSpc>
            </a:pPr>
            <a:r>
              <a:rPr sz="2000" b="0">
                <a:solidFill>
                  <a:srgbClr val="333333"/>
                </a:solidFill>
                <a:latin typeface="Calibri"/>
              </a:rPr>
              <a:t>Étape deux : A et C ont un voisin en commun, B</a:t>
            </a:r>
          </a:p>
          <a:p>
            <a:pPr lvl="0" marL="457200" indent="-228600">
              <a:buFont typeface="Calibri"/>
              <a:spcAft>
                <a:spcPts val="1000"/>
              </a:spcAft>
              <a:buSzPct val="100000"/>
              <a:buChar char="•"/>
              <a:lnSpc>
                <a:spcPts val="2200"/>
              </a:lnSpc>
            </a:pPr>
            <a:r>
              <a:rPr sz="2000" b="0">
                <a:solidFill>
                  <a:srgbClr val="333333"/>
                </a:solidFill>
                <a:latin typeface="Calibri"/>
              </a:rPr>
              <a:t>Les liens qui passent par B pèsent cinq et quatre, on garde le plus petit : quatre</a:t>
            </a:r>
          </a:p>
          <a:p>
            <a:pPr lvl="0" marL="457200" indent="-228600">
              <a:buFont typeface="Calibri"/>
              <a:spcAft>
                <a:spcPts val="1000"/>
              </a:spcAft>
              <a:buSzPct val="100000"/>
              <a:buChar char="•"/>
              <a:lnSpc>
                <a:spcPts val="2200"/>
              </a:lnSpc>
            </a:pPr>
            <a:r>
              <a:rPr sz="2000" b="0">
                <a:solidFill>
                  <a:srgbClr val="333333"/>
                </a:solidFill>
                <a:latin typeface="Calibri"/>
              </a:rPr>
              <a:t>Étape trois : on additionne, un plus quatre font cinq</a:t>
            </a:r>
          </a:p>
          <a:p>
            <a:pPr lvl="0" marL="457200" indent="-228600">
              <a:buFont typeface="Calibri"/>
              <a:spcAft>
                <a:spcPts val="1000"/>
              </a:spcAft>
              <a:buSzPct val="100000"/>
              <a:buChar char="•"/>
              <a:lnSpc>
                <a:spcPts val="2200"/>
              </a:lnSpc>
            </a:pPr>
            <a:r>
              <a:rPr sz="2000" b="0">
                <a:solidFill>
                  <a:srgbClr val="333333"/>
                </a:solidFill>
                <a:latin typeface="Calibri"/>
              </a:rPr>
              <a:t>Seule, A–C était faible, mais elle devient forte grâce à son ami commun</a:t>
            </a:r>
          </a:p>
        </p:txBody>
      </p:sp>
      <p:pic>
        <p:nvPicPr>
          <p:cNvPr id="4" name="Picture 3" descr="worked-ac.png"/>
          <p:cNvPicPr>
            <a:picLocks noChangeAspect="1"/>
          </p:cNvPicPr>
          <p:nvPr/>
        </p:nvPicPr>
        <p:blipFill>
          <a:blip r:embed="rId2"/>
          <a:stretch>
            <a:fillRect/>
          </a:stretch>
        </p:blipFill>
        <p:spPr>
          <a:xfrm>
            <a:off x="6172200" y="1234440"/>
            <a:ext cx="5131742" cy="475488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Dix paires, pas six</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Avec la deuxième recette, notre petit graphe donne dix paires au lieu de six</a:t>
            </a:r>
          </a:p>
          <a:p>
            <a:pPr lvl="0" marL="457200" indent="-228600">
              <a:buFont typeface="Calibri"/>
              <a:spcAft>
                <a:spcPts val="1000"/>
              </a:spcAft>
              <a:buSzPct val="100000"/>
              <a:buChar char="•"/>
              <a:lnSpc>
                <a:spcPts val="2200"/>
              </a:lnSpc>
            </a:pPr>
            <a:r>
              <a:rPr sz="2000" b="0">
                <a:solidFill>
                  <a:srgbClr val="333333"/>
                </a:solidFill>
                <a:latin typeface="Calibri"/>
              </a:rPr>
              <a:t>Quatre d'entre elles n'ont aucun fil entre elles</a:t>
            </a:r>
          </a:p>
          <a:p>
            <a:pPr lvl="0" marL="457200" indent="-228600">
              <a:buFont typeface="Calibri"/>
              <a:spcAft>
                <a:spcPts val="1000"/>
              </a:spcAft>
              <a:buSzPct val="100000"/>
              <a:buChar char="•"/>
              <a:lnSpc>
                <a:spcPts val="2200"/>
              </a:lnSpc>
            </a:pPr>
            <a:r>
              <a:rPr sz="2000" b="0">
                <a:solidFill>
                  <a:srgbClr val="333333"/>
                </a:solidFill>
                <a:latin typeface="Calibri"/>
              </a:rPr>
              <a:t>Par exemple, B et D ne sont pas reliés, mais tous les deux sont reliés à C</a:t>
            </a:r>
          </a:p>
          <a:p>
            <a:pPr lvl="0" marL="457200" indent="-228600">
              <a:buFont typeface="Calibri"/>
              <a:spcAft>
                <a:spcPts val="1000"/>
              </a:spcAft>
              <a:buSzPct val="100000"/>
              <a:buChar char="•"/>
              <a:lnSpc>
                <a:spcPts val="2200"/>
              </a:lnSpc>
            </a:pPr>
            <a:r>
              <a:rPr sz="2000" b="0">
                <a:solidFill>
                  <a:srgbClr val="333333"/>
                </a:solidFill>
                <a:latin typeface="Calibri"/>
              </a:rPr>
              <a:t>B–D obtient donc le plus faible de ces deux liens : deux</a:t>
            </a:r>
          </a:p>
          <a:p>
            <a:pPr lvl="0" marL="457200" indent="-228600">
              <a:buFont typeface="Calibri"/>
              <a:spcAft>
                <a:spcPts val="1000"/>
              </a:spcAft>
              <a:buSzPct val="100000"/>
              <a:buChar char="•"/>
              <a:lnSpc>
                <a:spcPts val="2200"/>
              </a:lnSpc>
            </a:pPr>
            <a:r>
              <a:rPr sz="2000" b="0">
                <a:solidFill>
                  <a:srgbClr val="333333"/>
                </a:solidFill>
                <a:latin typeface="Calibri"/>
              </a:rPr>
              <a:t>C'est comme deux personnes qui ne se sont jamais vues mais ont le même meilleur ami</a:t>
            </a:r>
          </a:p>
          <a:p>
            <a:pPr lvl="0" marL="457200" indent="-228600">
              <a:buFont typeface="Calibri"/>
              <a:spcAft>
                <a:spcPts val="1000"/>
              </a:spcAft>
              <a:buSzPct val="100000"/>
              <a:buChar char="•"/>
              <a:lnSpc>
                <a:spcPts val="2200"/>
              </a:lnSpc>
            </a:pPr>
            <a:r>
              <a:rPr sz="2000" b="0">
                <a:solidFill>
                  <a:srgbClr val="333333"/>
                </a:solidFill>
                <a:latin typeface="Calibri"/>
              </a:rPr>
              <a:t>Seules les paires dont le score vaudrait zéro sont exclues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 deuxième recette en 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Voici la deuxième recette écrite sous forme d'étapes qu'un ordinateur peut suivre</a:t>
            </a:r>
          </a:p>
          <a:p>
            <a:pPr lvl="0" marL="457200" indent="-228600">
              <a:buFont typeface="Calibri"/>
              <a:spcAft>
                <a:spcPts val="1000"/>
              </a:spcAft>
              <a:buSzPct val="100000"/>
              <a:buChar char="•"/>
              <a:lnSpc>
                <a:spcPts val="2200"/>
              </a:lnSpc>
            </a:pPr>
            <a:r>
              <a:rPr sz="2000" b="0">
                <a:solidFill>
                  <a:srgbClr val="333333"/>
                </a:solidFill>
                <a:latin typeface="Calibri"/>
              </a:rPr>
              <a:t>D'abord, chaque arête ajoute son poids à sa propre paire</a:t>
            </a:r>
          </a:p>
          <a:p>
            <a:pPr lvl="0" marL="457200" indent="-228600">
              <a:buFont typeface="Calibri"/>
              <a:spcAft>
                <a:spcPts val="1000"/>
              </a:spcAft>
              <a:buSzPct val="100000"/>
              <a:buChar char="•"/>
              <a:lnSpc>
                <a:spcPts val="2200"/>
              </a:lnSpc>
            </a:pPr>
            <a:r>
              <a:rPr sz="2000" b="0">
                <a:solidFill>
                  <a:srgbClr val="333333"/>
                </a:solidFill>
                <a:latin typeface="Calibri"/>
              </a:rPr>
              <a:t>Ensuite, pour chaque paire de nœuds, on regarde chaque voisin qu'ils ont en commun</a:t>
            </a:r>
          </a:p>
          <a:p>
            <a:pPr lvl="0" marL="457200" indent="-228600">
              <a:buFont typeface="Calibri"/>
              <a:spcAft>
                <a:spcPts val="1000"/>
              </a:spcAft>
              <a:buSzPct val="100000"/>
              <a:buChar char="•"/>
              <a:lnSpc>
                <a:spcPts val="2200"/>
              </a:lnSpc>
            </a:pPr>
            <a:r>
              <a:rPr sz="2000" b="0">
                <a:solidFill>
                  <a:srgbClr val="333333"/>
                </a:solidFill>
                <a:latin typeface="Calibri"/>
              </a:rPr>
              <a:t>Pour chaque voisin commun, on ajoute le plus petit de ses deux liens</a:t>
            </a:r>
          </a:p>
          <a:p>
            <a:pPr lvl="0" marL="457200" indent="-228600">
              <a:buFont typeface="Calibri"/>
              <a:spcAft>
                <a:spcPts val="1000"/>
              </a:spcAft>
              <a:buSzPct val="100000"/>
              <a:buChar char="•"/>
              <a:lnSpc>
                <a:spcPts val="2200"/>
              </a:lnSpc>
            </a:pPr>
            <a:r>
              <a:rPr sz="2000" b="0">
                <a:solidFill>
                  <a:srgbClr val="333333"/>
                </a:solidFill>
                <a:latin typeface="Calibri"/>
              </a:rPr>
              <a:t>On garde chaque paire dont le score finit au-dessus de zéro</a:t>
            </a:r>
          </a:p>
          <a:p>
            <a:pPr lvl="0" marL="457200" indent="-228600">
              <a:buFont typeface="Calibri"/>
              <a:spcAft>
                <a:spcPts val="1000"/>
              </a:spcAft>
              <a:buSzPct val="100000"/>
              <a:buChar char="•"/>
              <a:lnSpc>
                <a:spcPts val="2200"/>
              </a:lnSpc>
            </a:pPr>
            <a:r>
              <a:rPr sz="2000" b="0">
                <a:solidFill>
                  <a:srgbClr val="333333"/>
                </a:solidFill>
                <a:latin typeface="Calibri"/>
              </a:rPr>
              <a:t>Enfin, on trie par score décroissant et on départage les égalités par ordre alphabétique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 deuxième recette en pseudo-code — à essayer</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affinity_shared_neighbors(nodes, edges):</a:t>
            </a:r>
          </a:p>
          <a:p>
            <a:pPr>
              <a:lnSpc>
                <a:spcPts val="2200"/>
              </a:lnSpc>
              <a:spcAft>
                <a:spcPts val="400"/>
              </a:spcAft>
            </a:pPr>
            <a:r>
              <a:rPr sz="2000" b="0">
                <a:solidFill>
                  <a:srgbClr val="333333"/>
                </a:solidFill>
                <a:latin typeface="Consolas"/>
              </a:rPr>
              <a:t>  score[u,v] = w(u,v) pour chaque arête</a:t>
            </a:r>
          </a:p>
          <a:p>
            <a:pPr>
              <a:lnSpc>
                <a:spcPts val="2200"/>
              </a:lnSpc>
              <a:spcAft>
                <a:spcPts val="400"/>
              </a:spcAft>
            </a:pPr>
            <a:r>
              <a:rPr sz="2000" b="0">
                <a:solidFill>
                  <a:srgbClr val="333333"/>
                </a:solidFill>
                <a:latin typeface="Consolas"/>
              </a:rPr>
              <a:t>  pour chaque paire (u, v) de nœuds :</a:t>
            </a:r>
          </a:p>
          <a:p>
            <a:pPr>
              <a:lnSpc>
                <a:spcPts val="2200"/>
              </a:lnSpc>
              <a:spcAft>
                <a:spcPts val="400"/>
              </a:spcAft>
            </a:pPr>
            <a:r>
              <a:rPr sz="2000" b="0">
                <a:solidFill>
                  <a:srgbClr val="333333"/>
                </a:solidFill>
                <a:latin typeface="Consolas"/>
              </a:rPr>
              <a:t>    s = 0</a:t>
            </a:r>
          </a:p>
          <a:p>
            <a:pPr>
              <a:lnSpc>
                <a:spcPts val="2200"/>
              </a:lnSpc>
              <a:spcAft>
                <a:spcPts val="400"/>
              </a:spcAft>
            </a:pPr>
            <a:r>
              <a:rPr sz="2000" b="0">
                <a:solidFill>
                  <a:srgbClr val="333333"/>
                </a:solidFill>
                <a:latin typeface="Consolas"/>
              </a:rPr>
              <a:t>    pour x dans voisins(u), x != v :</a:t>
            </a:r>
          </a:p>
          <a:p>
            <a:pPr>
              <a:lnSpc>
                <a:spcPts val="2200"/>
              </a:lnSpc>
              <a:spcAft>
                <a:spcPts val="400"/>
              </a:spcAft>
            </a:pPr>
            <a:r>
              <a:rPr sz="2000" b="0">
                <a:solidFill>
                  <a:srgbClr val="333333"/>
                </a:solidFill>
                <a:latin typeface="Consolas"/>
              </a:rPr>
              <a:t>      si x dans voisins(v) :</a:t>
            </a:r>
          </a:p>
          <a:p>
            <a:pPr>
              <a:lnSpc>
                <a:spcPts val="2200"/>
              </a:lnSpc>
              <a:spcAft>
                <a:spcPts val="400"/>
              </a:spcAft>
            </a:pPr>
            <a:r>
              <a:rPr sz="2000" b="0">
                <a:solidFill>
                  <a:srgbClr val="333333"/>
                </a:solidFill>
                <a:latin typeface="Consolas"/>
              </a:rPr>
              <a:t>        s += min(w(u,x), w(v,x))</a:t>
            </a:r>
          </a:p>
          <a:p>
            <a:pPr>
              <a:lnSpc>
                <a:spcPts val="2200"/>
              </a:lnSpc>
              <a:spcAft>
                <a:spcPts val="400"/>
              </a:spcAft>
            </a:pPr>
            <a:r>
              <a:rPr sz="2000" b="0">
                <a:solidFill>
                  <a:srgbClr val="333333"/>
                </a:solidFill>
                <a:latin typeface="Consolas"/>
              </a:rPr>
              <a:t>    si s &gt; 0 ou (u,v) a une arête :</a:t>
            </a:r>
          </a:p>
          <a:p>
            <a:pPr>
              <a:lnSpc>
                <a:spcPts val="2200"/>
              </a:lnSpc>
              <a:spcAft>
                <a:spcPts val="400"/>
              </a:spcAft>
            </a:pPr>
            <a:r>
              <a:rPr sz="2000" b="0">
                <a:solidFill>
                  <a:srgbClr val="333333"/>
                </a:solidFill>
                <a:latin typeface="Consolas"/>
              </a:rPr>
              <a:t>      score[u,v] += s</a:t>
            </a:r>
          </a:p>
          <a:p>
            <a:pPr>
              <a:lnSpc>
                <a:spcPts val="2200"/>
              </a:lnSpc>
              <a:spcAft>
                <a:spcPts val="400"/>
              </a:spcAft>
            </a:pPr>
            <a:r>
              <a:rPr sz="2000" b="0">
                <a:solidFill>
                  <a:srgbClr val="333333"/>
                </a:solidFill>
                <a:latin typeface="Consolas"/>
              </a:rPr>
              <a:t>  trier par score (décroissant), puis u, puis v</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Même graphe, première fusion différente</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Voici un deuxième exemple qui montre pourquoi la recette compte</a:t>
            </a:r>
          </a:p>
          <a:p>
            <a:pPr lvl="0" marL="457200" indent="-228600">
              <a:buFont typeface="Calibri"/>
              <a:spcAft>
                <a:spcPts val="1000"/>
              </a:spcAft>
              <a:buSzPct val="100000"/>
              <a:buChar char="•"/>
              <a:lnSpc>
                <a:spcPts val="2200"/>
              </a:lnSpc>
            </a:pPr>
            <a:r>
              <a:rPr sz="2000" b="0">
                <a:solidFill>
                  <a:srgbClr val="333333"/>
                </a:solidFill>
                <a:latin typeface="Calibri"/>
              </a:rPr>
              <a:t>Prenons un triangle serré P, Q, R, dont chaque arête pèse quatre</a:t>
            </a:r>
          </a:p>
          <a:p>
            <a:pPr lvl="0" marL="457200" indent="-228600">
              <a:buFont typeface="Calibri"/>
              <a:spcAft>
                <a:spcPts val="1000"/>
              </a:spcAft>
              <a:buSzPct val="100000"/>
              <a:buChar char="•"/>
              <a:lnSpc>
                <a:spcPts val="2200"/>
              </a:lnSpc>
            </a:pPr>
            <a:r>
              <a:rPr sz="2000" b="0">
                <a:solidFill>
                  <a:srgbClr val="333333"/>
                </a:solidFill>
                <a:latin typeface="Calibri"/>
              </a:rPr>
              <a:t>À côté, une paire isolée X–Y a un poids de cinq</a:t>
            </a:r>
          </a:p>
          <a:p>
            <a:pPr lvl="0" marL="457200" indent="-228600">
              <a:buFont typeface="Calibri"/>
              <a:spcAft>
                <a:spcPts val="1000"/>
              </a:spcAft>
              <a:buSzPct val="100000"/>
              <a:buChar char="•"/>
              <a:lnSpc>
                <a:spcPts val="2200"/>
              </a:lnSpc>
            </a:pPr>
            <a:r>
              <a:rPr sz="2000" b="0">
                <a:solidFill>
                  <a:srgbClr val="333333"/>
                </a:solidFill>
                <a:latin typeface="Calibri"/>
              </a:rPr>
              <a:t>La première recette choisit X–Y, car cinq bat quatre</a:t>
            </a:r>
          </a:p>
          <a:p>
            <a:pPr lvl="0" marL="457200" indent="-228600">
              <a:buFont typeface="Calibri"/>
              <a:spcAft>
                <a:spcPts val="1000"/>
              </a:spcAft>
              <a:buSzPct val="100000"/>
              <a:buChar char="•"/>
              <a:lnSpc>
                <a:spcPts val="2200"/>
              </a:lnSpc>
            </a:pPr>
            <a:r>
              <a:rPr sz="2000" b="0">
                <a:solidFill>
                  <a:srgbClr val="333333"/>
                </a:solidFill>
                <a:latin typeface="Calibri"/>
              </a:rPr>
              <a:t>La deuxième donne à P–Q quatre, plus quatre via R : huit</a:t>
            </a:r>
          </a:p>
          <a:p>
            <a:pPr lvl="0" marL="457200" indent="-228600">
              <a:buFont typeface="Calibri"/>
              <a:spcAft>
                <a:spcPts val="1000"/>
              </a:spcAft>
              <a:buSzPct val="100000"/>
              <a:buChar char="•"/>
              <a:lnSpc>
                <a:spcPts val="2200"/>
              </a:lnSpc>
            </a:pPr>
            <a:r>
              <a:rPr sz="2000" b="0">
                <a:solidFill>
                  <a:srgbClr val="333333"/>
                </a:solidFill>
                <a:latin typeface="Calibri"/>
              </a:rPr>
              <a:t>P–Q passe donc en premier</a:t>
            </a:r>
          </a:p>
        </p:txBody>
      </p:sp>
      <p:pic>
        <p:nvPicPr>
          <p:cNvPr id="4" name="Picture 3" descr="priority-graph.png"/>
          <p:cNvPicPr>
            <a:picLocks noChangeAspect="1"/>
          </p:cNvPicPr>
          <p:nvPr/>
        </p:nvPicPr>
        <p:blipFill>
          <a:blip r:embed="rId2"/>
          <a:stretch>
            <a:fillRect/>
          </a:stretch>
        </p:blipFill>
        <p:spPr>
          <a:xfrm>
            <a:off x="6172200" y="1234440"/>
            <a:ext cx="3548417"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Des nets à nombreuses broches</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Sur une vraie puce, un même fil peut relier plusieurs cellules à la fois</a:t>
            </a:r>
          </a:p>
          <a:p>
            <a:pPr lvl="0" marL="457200" indent="-228600">
              <a:buFont typeface="Calibri"/>
              <a:spcAft>
                <a:spcPts val="1000"/>
              </a:spcAft>
              <a:buSzPct val="100000"/>
              <a:buChar char="•"/>
              <a:lnSpc>
                <a:spcPts val="2200"/>
              </a:lnSpc>
            </a:pPr>
            <a:r>
              <a:rPr sz="2000" b="0">
                <a:solidFill>
                  <a:srgbClr val="333333"/>
                </a:solidFill>
                <a:latin typeface="Calibri"/>
              </a:rPr>
              <a:t>Un tel fil partagé s'appelle un net, et chaque cellule qu'il touche est une broche</a:t>
            </a:r>
          </a:p>
          <a:p>
            <a:pPr lvl="0" marL="457200" indent="-228600">
              <a:buFont typeface="Calibri"/>
              <a:spcAft>
                <a:spcPts val="1000"/>
              </a:spcAft>
              <a:buSzPct val="100000"/>
              <a:buChar char="•"/>
              <a:lnSpc>
                <a:spcPts val="2200"/>
              </a:lnSpc>
            </a:pPr>
            <a:r>
              <a:rPr sz="2000" b="0">
                <a:solidFill>
                  <a:srgbClr val="333333"/>
                </a:solidFill>
                <a:latin typeface="Calibri"/>
              </a:rPr>
              <a:t>Pensez à une discussion de groupe à cinquante : elle en dit peu sur qui est ami avec qui</a:t>
            </a:r>
          </a:p>
          <a:p>
            <a:pPr lvl="0" marL="457200" indent="-228600">
              <a:buFont typeface="Calibri"/>
              <a:spcAft>
                <a:spcPts val="1000"/>
              </a:spcAft>
              <a:buSzPct val="100000"/>
              <a:buChar char="•"/>
              <a:lnSpc>
                <a:spcPts val="2200"/>
              </a:lnSpc>
            </a:pPr>
            <a:r>
              <a:rPr sz="2000" b="0">
                <a:solidFill>
                  <a:srgbClr val="333333"/>
                </a:solidFill>
                <a:latin typeface="Calibri"/>
              </a:rPr>
              <a:t>Un message privé entre deux personnes en dit beaucoup plus</a:t>
            </a:r>
          </a:p>
          <a:p>
            <a:pPr lvl="0" marL="457200" indent="-228600">
              <a:buFont typeface="Calibri"/>
              <a:spcAft>
                <a:spcPts val="1000"/>
              </a:spcAft>
              <a:buSzPct val="100000"/>
              <a:buChar char="•"/>
              <a:lnSpc>
                <a:spcPts val="2200"/>
              </a:lnSpc>
            </a:pPr>
            <a:r>
              <a:rPr sz="2000" b="0">
                <a:solidFill>
                  <a:srgbClr val="333333"/>
                </a:solidFill>
                <a:latin typeface="Calibri"/>
              </a:rPr>
              <a:t>La troisième recette fonctionne pareil : chaque net partage son poids entre ses broches</a:t>
            </a:r>
          </a:p>
          <a:p>
            <a:pPr lvl="0" marL="457200" indent="-228600">
              <a:buFont typeface="Calibri"/>
              <a:spcAft>
                <a:spcPts val="1000"/>
              </a:spcAft>
              <a:buSzPct val="100000"/>
              <a:buChar char="•"/>
              <a:lnSpc>
                <a:spcPts val="2200"/>
              </a:lnSpc>
            </a:pPr>
            <a:r>
              <a:rPr sz="2000" b="0">
                <a:solidFill>
                  <a:srgbClr val="333333"/>
                </a:solidFill>
                <a:latin typeface="Calibri"/>
              </a:rPr>
              <a:t>La règle : le poids divisé par le nombre de broches moins un</a:t>
            </a:r>
          </a:p>
        </p:txBody>
      </p:sp>
      <p:pic>
        <p:nvPicPr>
          <p:cNvPr id="4" name="Picture 3" descr="wide-nets.png"/>
          <p:cNvPicPr>
            <a:picLocks noChangeAspect="1"/>
          </p:cNvPicPr>
          <p:nvPr/>
        </p:nvPicPr>
        <p:blipFill>
          <a:blip r:embed="rId2"/>
          <a:stretch>
            <a:fillRect/>
          </a:stretch>
        </p:blipFill>
        <p:spPr>
          <a:xfrm>
            <a:off x="6172200" y="1234440"/>
            <a:ext cx="4256116" cy="475488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Des nets à nombreuses broches — à essayer</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petite netlist : en {A,B,C,D,E}, rst {A,B,C,D,E}, n1 {E,F}</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nombre brut de nets    nombre de broches w/(|e|-1)</a:t>
            </a:r>
          </a:p>
          <a:p>
            <a:pPr>
              <a:lnSpc>
                <a:spcPts val="2200"/>
              </a:lnSpc>
              <a:spcAft>
                <a:spcPts val="400"/>
              </a:spcAft>
            </a:pPr>
            <a:r>
              <a:rPr sz="2000" b="0">
                <a:solidFill>
                  <a:srgbClr val="333333"/>
                </a:solidFill>
                <a:latin typeface="Consolas"/>
              </a:rPr>
              <a:t>A-B        1 + 1 = 2              1/4 + 1/4 = 0.5</a:t>
            </a:r>
          </a:p>
          <a:p>
            <a:pPr>
              <a:lnSpc>
                <a:spcPts val="2200"/>
              </a:lnSpc>
              <a:spcAft>
                <a:spcPts val="400"/>
              </a:spcAft>
            </a:pPr>
            <a:r>
              <a:rPr sz="2000" b="0">
                <a:solidFill>
                  <a:srgbClr val="333333"/>
                </a:solidFill>
                <a:latin typeface="Consolas"/>
              </a:rPr>
              <a:t>E-F        1                      1/1 = 1.0</a:t>
            </a:r>
          </a:p>
          <a:p>
            <a:pPr>
              <a:lnSpc>
                <a:spcPts val="2200"/>
              </a:lnSpc>
              <a:spcAft>
                <a:spcPts val="400"/>
              </a:spcAft>
            </a:pPr>
            <a:r>
              <a:rPr sz="2000" b="0">
                <a:solidFill>
                  <a:srgbClr val="333333"/>
                </a:solidFill>
                <a:latin typeface="Consolas"/>
              </a:rPr>
              <a:t>1re fusion A-B                    E-F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 parcours lab dans le navigateur</a:t>
            </a:r>
          </a:p>
        </p:txBody>
      </p:sp>
      <p:pic>
        <p:nvPicPr>
          <p:cNvPr id="3" name="Picture 2" descr="lab-starter.png"/>
          <p:cNvPicPr>
            <a:picLocks noChangeAspect="1"/>
          </p:cNvPicPr>
          <p:nvPr/>
        </p:nvPicPr>
        <p:blipFill>
          <a:blip r:embed="rId2"/>
          <a:stretch>
            <a:fillRect/>
          </a:stretch>
        </p:blipFill>
        <p:spPr>
          <a:xfrm>
            <a:off x="548640" y="1143000"/>
            <a:ext cx="6219507" cy="4571999"/>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Le lab dans le navigateur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 parcours implémentation</a:t>
            </a:r>
          </a:p>
        </p:txBody>
      </p:sp>
      <p:pic>
        <p:nvPicPr>
          <p:cNvPr id="3" name="Picture 2" descr="real-shell.png"/>
          <p:cNvPicPr>
            <a:picLocks noChangeAspect="1"/>
          </p:cNvPicPr>
          <p:nvPr/>
        </p:nvPicPr>
        <p:blipFill>
          <a:blip r:embed="rId2"/>
          <a:stretch>
            <a:fillRect/>
          </a:stretch>
        </p:blipFill>
        <p:spPr>
          <a:xfrm>
            <a:off x="548640" y="1143000"/>
            <a:ext cx="9160625"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Session dans un vrai terminal</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 parcours implémentation — à essayer</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 indiquer à Python où sont les fonctions partagées</a:t>
            </a:r>
          </a:p>
          <a:p>
            <a:pPr>
              <a:lnSpc>
                <a:spcPts val="2200"/>
              </a:lnSpc>
              <a:spcAft>
                <a:spcPts val="400"/>
              </a:spcAft>
            </a:pPr>
            <a:r>
              <a:rPr sz="2000" b="0">
                <a:solidFill>
                  <a:srgbClr val="333333"/>
                </a:solidFill>
                <a:latin typeface="Consolas"/>
              </a:rPr>
              <a:t>export PYTHONPATH=../common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les deux classements : graphe de départ, puis graphe de priorité</a:t>
            </a:r>
          </a:p>
          <a:p>
            <a:pPr>
              <a:lnSpc>
                <a:spcPts val="2200"/>
              </a:lnSpc>
              <a:spcAft>
                <a:spcPts val="400"/>
              </a:spcAft>
            </a:pPr>
            <a:r>
              <a:rPr sz="2000" b="0">
                <a:solidFill>
                  <a:srgbClr val="333333"/>
                </a:solidFill>
                <a:latin typeface="Consolas"/>
              </a:rPr>
              <a:t>python3 ../common/solvers.py examples/tiny_graph.json --mode</a:t>
            </a:r>
          </a:p>
          <a:p>
            <a:pPr>
              <a:lnSpc>
                <a:spcPts val="2200"/>
              </a:lnSpc>
              <a:spcAft>
                <a:spcPts val="400"/>
              </a:spcAft>
            </a:pPr>
            <a:r>
              <a:rPr sz="2000" b="0">
                <a:solidFill>
                  <a:srgbClr val="333333"/>
                </a:solidFill>
                <a:latin typeface="Consolas"/>
              </a:rPr>
              <a:t>affinity</a:t>
            </a:r>
          </a:p>
          <a:p>
            <a:pPr>
              <a:lnSpc>
                <a:spcPts val="2200"/>
              </a:lnSpc>
              <a:spcAft>
                <a:spcPts val="400"/>
              </a:spcAft>
            </a:pPr>
            <a:r>
              <a:rPr sz="2000" b="0">
                <a:solidFill>
                  <a:srgbClr val="333333"/>
                </a:solidFill>
                <a:latin typeface="Consolas"/>
              </a:rPr>
              <a:t>python3 ../common/solvers.py examples/priority_graph.json --mode</a:t>
            </a:r>
          </a:p>
          <a:p>
            <a:pPr>
              <a:lnSpc>
                <a:spcPts val="2200"/>
              </a:lnSpc>
              <a:spcAft>
                <a:spcPts val="400"/>
              </a:spcAft>
            </a:pPr>
            <a:r>
              <a:rPr sz="2000" b="0">
                <a:solidFill>
                  <a:srgbClr val="333333"/>
                </a:solidFill>
                <a:latin typeface="Consolas"/>
              </a:rPr>
              <a:t>affinity</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vérifier tous les résultats de référence sur vos propres fonctions</a:t>
            </a:r>
          </a:p>
          <a:p>
            <a:pPr>
              <a:lnSpc>
                <a:spcPts val="2200"/>
              </a:lnSpc>
              <a:spcAft>
                <a:spcPts val="400"/>
              </a:spcAft>
            </a:pPr>
            <a:r>
              <a:rPr sz="2000" b="0">
                <a:solidFill>
                  <a:srgbClr val="333333"/>
                </a:solidFill>
                <a:latin typeface="Consolas"/>
              </a:rPr>
              <a:t>python3 examples/affinity_check.py --impl my_affinity.py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Les pièges à éviter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Attention à quatre erreurs fréquentes</a:t>
            </a:r>
          </a:p>
          <a:p>
            <a:pPr lvl="0" marL="457200" indent="-228600">
              <a:buFont typeface="Calibri"/>
              <a:spcAft>
                <a:spcPts val="1000"/>
              </a:spcAft>
              <a:buSzPct val="100000"/>
              <a:buChar char="•"/>
              <a:lnSpc>
                <a:spcPts val="2200"/>
              </a:lnSpc>
            </a:pPr>
            <a:r>
              <a:rPr sz="2000" b="0">
                <a:solidFill>
                  <a:srgbClr val="333333"/>
                </a:solidFill>
                <a:latin typeface="Calibri"/>
              </a:rPr>
              <a:t>Compter deux fois une arête, une fois depuis chaque extrémité</a:t>
            </a:r>
          </a:p>
          <a:p>
            <a:pPr lvl="0" marL="457200" indent="-228600">
              <a:buFont typeface="Calibri"/>
              <a:spcAft>
                <a:spcPts val="1000"/>
              </a:spcAft>
              <a:buSzPct val="100000"/>
              <a:buChar char="•"/>
              <a:lnSpc>
                <a:spcPts val="2200"/>
              </a:lnSpc>
            </a:pPr>
            <a:r>
              <a:rPr sz="2000" b="0">
                <a:solidFill>
                  <a:srgbClr val="333333"/>
                </a:solidFill>
                <a:latin typeface="Calibri"/>
              </a:rPr>
              <a:t>Ajouter le lien le plus fort au lieu du plus faible : tout semble alors proche de tout</a:t>
            </a:r>
          </a:p>
          <a:p>
            <a:pPr lvl="0" marL="457200" indent="-228600">
              <a:buFont typeface="Calibri"/>
              <a:spcAft>
                <a:spcPts val="1000"/>
              </a:spcAft>
              <a:buSzPct val="100000"/>
              <a:buChar char="•"/>
              <a:lnSpc>
                <a:spcPts val="2200"/>
              </a:lnSpc>
            </a:pPr>
            <a:r>
              <a:rPr sz="2000" b="0">
                <a:solidFill>
                  <a:srgbClr val="333333"/>
                </a:solidFill>
                <a:latin typeface="Calibri"/>
              </a:rPr>
              <a:t>Oublier le départage : A–B et D–E changent de place d'une exécution à l'autre</a:t>
            </a:r>
          </a:p>
          <a:p>
            <a:pPr lvl="0" marL="457200" indent="-228600">
              <a:buFont typeface="Calibri"/>
              <a:spcAft>
                <a:spcPts val="1000"/>
              </a:spcAft>
              <a:buSzPct val="100000"/>
              <a:buChar char="•"/>
              <a:lnSpc>
                <a:spcPts val="2200"/>
              </a:lnSpc>
            </a:pPr>
            <a:r>
              <a:rPr sz="2000" b="0">
                <a:solidFill>
                  <a:srgbClr val="333333"/>
                </a:solidFill>
                <a:latin typeface="Calibri"/>
              </a:rPr>
              <a:t>Et compter les grands nets partagés à plein poids, ce qui colle des cellules sans rapport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Récapitulatif : trois recettes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Recette un, le poids d'arête : on ne regarde que le fil direct</a:t>
            </a:r>
          </a:p>
          <a:p>
            <a:pPr lvl="0" marL="457200" indent="-228600">
              <a:buFont typeface="Calibri"/>
              <a:spcAft>
                <a:spcPts val="1000"/>
              </a:spcAft>
              <a:buSzPct val="100000"/>
              <a:buChar char="•"/>
              <a:lnSpc>
                <a:spcPts val="2200"/>
              </a:lnSpc>
            </a:pPr>
            <a:r>
              <a:rPr sz="2000" b="0">
                <a:solidFill>
                  <a:srgbClr val="333333"/>
                </a:solidFill>
                <a:latin typeface="Calibri"/>
              </a:rPr>
              <a:t>Recette deux, les voisins communs : on ajoute l'aide des amis communs</a:t>
            </a:r>
          </a:p>
          <a:p>
            <a:pPr lvl="0" marL="457200" indent="-228600">
              <a:buFont typeface="Calibri"/>
              <a:spcAft>
                <a:spcPts val="1000"/>
              </a:spcAft>
              <a:buSzPct val="100000"/>
              <a:buChar char="•"/>
              <a:lnSpc>
                <a:spcPts val="2200"/>
              </a:lnSpc>
            </a:pPr>
            <a:r>
              <a:rPr sz="2000" b="0">
                <a:solidFill>
                  <a:srgbClr val="333333"/>
                </a:solidFill>
                <a:latin typeface="Calibri"/>
              </a:rPr>
              <a:t>Recette trois, le nombre de broches : un grand net partagé compte moins qu'un net privé</a:t>
            </a:r>
          </a:p>
          <a:p>
            <a:pPr lvl="0" marL="457200" indent="-228600">
              <a:buFont typeface="Calibri"/>
              <a:spcAft>
                <a:spcPts val="1000"/>
              </a:spcAft>
              <a:buSzPct val="100000"/>
              <a:buChar char="•"/>
              <a:lnSpc>
                <a:spcPts val="2200"/>
              </a:lnSpc>
            </a:pPr>
            <a:r>
              <a:rPr sz="2000" b="0">
                <a:solidFill>
                  <a:srgbClr val="333333"/>
                </a:solidFill>
                <a:latin typeface="Calibri"/>
              </a:rPr>
              <a:t>Les égalités se départagent par ordre alphabétique, donc les résultats ne changent jamais</a:t>
            </a:r>
          </a:p>
          <a:p>
            <a:pPr lvl="0" marL="457200" indent="-228600">
              <a:buFont typeface="Calibri"/>
              <a:spcAft>
                <a:spcPts val="1000"/>
              </a:spcAft>
              <a:buSzPct val="100000"/>
              <a:buChar char="•"/>
              <a:lnSpc>
                <a:spcPts val="2200"/>
              </a:lnSpc>
            </a:pPr>
            <a:r>
              <a:rPr sz="2000" b="0">
                <a:solidFill>
                  <a:srgbClr val="333333"/>
                </a:solidFill>
                <a:latin typeface="Calibri"/>
              </a:rPr>
              <a:t>Des recettes différentes peuvent choisir une première fusion différente</a:t>
            </a:r>
          </a:p>
          <a:p>
            <a:pPr lvl="0" marL="457200" indent="-228600">
              <a:buFont typeface="Calibri"/>
              <a:spcAft>
                <a:spcPts val="1000"/>
              </a:spcAft>
              <a:buSzPct val="100000"/>
              <a:buChar char="•"/>
              <a:lnSpc>
                <a:spcPts val="2200"/>
              </a:lnSpc>
            </a:pPr>
            <a:r>
              <a:rPr sz="2000" b="0">
                <a:solidFill>
                  <a:srgbClr val="333333"/>
                </a:solidFill>
                <a:latin typeface="Calibri"/>
              </a:rPr>
              <a:t>Choisir la recette est une décision de conception, pas un détail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À vous de jouer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Essayez les défis du lab, ou écrivez les trois recettes et passez le vérificateur</a:t>
            </a:r>
          </a:p>
          <a:p>
            <a:pPr lvl="0" marL="457200" indent="-228600">
              <a:buFont typeface="Calibri"/>
              <a:spcAft>
                <a:spcPts val="1000"/>
              </a:spcAft>
              <a:buSzPct val="100000"/>
              <a:buChar char="•"/>
              <a:lnSpc>
                <a:spcPts val="2200"/>
              </a:lnSpc>
            </a:pPr>
            <a:r>
              <a:rPr sz="2000" b="0">
                <a:solidFill>
                  <a:srgbClr val="333333"/>
                </a:solidFill>
                <a:latin typeface="Calibri"/>
              </a:rPr>
              <a:t>Puis expliquez deux choses avec vos propres mots</a:t>
            </a:r>
          </a:p>
          <a:p>
            <a:pPr lvl="0" marL="457200" indent="-228600">
              <a:buFont typeface="Calibri"/>
              <a:spcAft>
                <a:spcPts val="1000"/>
              </a:spcAft>
              <a:buSzPct val="100000"/>
              <a:buChar char="•"/>
              <a:lnSpc>
                <a:spcPts val="2200"/>
              </a:lnSpc>
            </a:pPr>
            <a:r>
              <a:rPr sz="2000" b="0">
                <a:solidFill>
                  <a:srgbClr val="333333"/>
                </a:solidFill>
                <a:latin typeface="Calibri"/>
              </a:rPr>
              <a:t>D'abord, pourquoi A–C monte-t-elle avec la deuxième recette ?</a:t>
            </a:r>
          </a:p>
          <a:p>
            <a:pPr lvl="0" marL="457200" indent="-228600">
              <a:buFont typeface="Calibri"/>
              <a:spcAft>
                <a:spcPts val="1000"/>
              </a:spcAft>
              <a:buSzPct val="100000"/>
              <a:buChar char="•"/>
              <a:lnSpc>
                <a:spcPts val="2200"/>
              </a:lnSpc>
            </a:pPr>
            <a:r>
              <a:rPr sz="2000" b="0">
                <a:solidFill>
                  <a:srgbClr val="333333"/>
                </a:solidFill>
                <a:latin typeface="Calibri"/>
              </a:rPr>
              <a:t>Ensuite, pourquoi le graphe de priorité change-t-il sa première fusion ?</a:t>
            </a:r>
          </a:p>
          <a:p>
            <a:pPr lvl="0" marL="457200" indent="-228600">
              <a:buFont typeface="Calibri"/>
              <a:spcAft>
                <a:spcPts val="1000"/>
              </a:spcAft>
              <a:buSzPct val="100000"/>
              <a:buChar char="•"/>
              <a:lnSpc>
                <a:spcPts val="2200"/>
              </a:lnSpc>
            </a:pPr>
            <a:r>
              <a:rPr sz="2000" b="0">
                <a:solidFill>
                  <a:srgbClr val="333333"/>
                </a:solidFill>
                <a:latin typeface="Calibri"/>
              </a:rPr>
              <a:t>Faites le petit quiz, puis passez à la fusion gloutonne par paires</a:t>
            </a:r>
          </a:p>
          <a:p>
            <a:pPr lvl="0" marL="457200" indent="-228600">
              <a:buFont typeface="Calibri"/>
              <a:spcAft>
                <a:spcPts val="1000"/>
              </a:spcAft>
              <a:buSzPct val="100000"/>
              <a:buChar char="•"/>
              <a:lnSpc>
                <a:spcPts val="2200"/>
              </a:lnSpc>
            </a:pPr>
            <a:r>
              <a:rPr sz="2000" b="0">
                <a:solidFill>
                  <a:srgbClr val="333333"/>
                </a:solidFill>
                <a:latin typeface="Calibri"/>
              </a:rPr>
              <a:t>Là, ces scores deviennent la règle de fusion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01 métriques d'affinité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