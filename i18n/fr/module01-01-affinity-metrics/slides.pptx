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fusionner des cellules ou de réduire une netlist, il faut savoir lesquelles vont ensemble. Ce score, c'est l'affinité. Vous allez comparer le poids d'arête et le score par voisins communs. Les deux sont testés sur le même petit graphe, pour voir qui fusionne en premier. Ensuite, vous verrez un graphe où ces deux scores ne sont pas d'accord. Enfin, un troisième score traite les vraies netlists, où un seul net touche de nombreuses cellules.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cellules, de A à E, reliées par des arêtes pondérées. Les arêtes lourdes A–B et D–E pèsent toutes les deux cinq ; le pont qui passe par C est plus faible. C'est l'affinité qui va décider quelles paires veulent former un cluster en premier.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L'affinité par poids d'arête se contente de trier les arêtes existantes. A–B et D–E sont à égalité à cinq ; le départage place A–B en premier. Ce classement est la priorité de fusion la plus simple.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et B partagent déjà une arête de poids cinq. Ils ont aussi un voisin commun : C. L'affinité par voisins communs ajoute le plus petit des deux rayons, c'est-à-dire un, donc A–B monte à six.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le score par voisins communs, A–B et D–E mènent à six. L'arête faible A–C bondit à cinq grâce à B. Des paires sans arête, comme B–D, peuvent apparaître uniquement grâce à leurs voisins communs.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L'affinité, c'est la préférence locale de l'objectif : quelles cellules vont ensemble, avant les contraintes globales. Une mauvaise affinité donne de mauvaises fusions, et un raffinement plus difficile ensuite.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score par voisins communs sous forme de code. D'abord, chaque arête existante ajoute son poids à sa paire. Ensuite, on prend chaque paire de nœuds et chacun de leurs voisins communs. Pour chaque voisin commun, on ajoute le plus petit des deux poids vers la paire. Une paire dont le score dépasse zéro est gardée. Enfin, on trie par score décroissant, et on départage les égalités par ordre alphabétique. Ainsi, la liste est toujours la même.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le score par voisins communs, le graphe de départ donne dix paires, et non six. Quatre d'entre elles n'ont aucune arête. B et D sont tous les deux reliés à C, donc B–D obtient le plus petit rayon : deux. A–D, A–E et B–E gagnent chacune un, en passant par C. Ces paires ne sont pas des erreurs. Elles disent que deux cellules sont proches, même sans fil direct. Une paire n'est exclue que si son score vaut zéro.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Prenons un triangle serré P, Q, R, dont chaque arête pèse quatre. Ajoutons une paire isolée X–Y, de poids cinq. Le poids d'arête choisit d'abord X–Y, car cinq bat quatre. Le score par voisins communs donne à P–Q quatre, plus quatre via R : huit. X–Y n'a aucun voisin commun, donc reste à cinq. Même graphe, même moteur de fusion, mais une première fusion différente.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vraies netlists ne sont pas faites de simples arêtes. Un seul net peut relier de nombreuses cellules, comme une ligne de reset ou d'enable. Compter chaque net partagé à plein poids rapproche A et B à tort. Elles semblent proches simplement parce qu'elles voient toutes les deux le reset. Le score par nombre de broches corrige cela. Chaque net divise son poids par son nombre de broches moins un. Un net à deux broches compte donc entièrement. Un net à cinq broches ne donne qu'un quart à chaque paire.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lab du navigateur, c'est vous qui calculez les scores. Cliquez sur deux nœuds pour choisir une paire, même une paire sans arête, calculez son score à la main, puis saisissez-le. Vous pouvez aussi construire votre propre classement, une paire à la fois, et modifier les poids des arêtes pour voir quelle paire fusionne en premier. Vous pouvez passer d'un graphe à l'autre et d'un score à l'autre. Les dix défis vérifient ce que vous avez saisi, votre classement et vos modifications. Le détail du calcul et le classement complet sont là pour réviser, mais tout ce qu'ils révèlent ne compte plus.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parcours implémentation, affichez les deux classements pour le graphe de départ, puis pour le graphe de priorité, et comparez la première ligne de chaque tableau. Ensuite, écrivez vos propres fonctions de score, y compris le nombre de broches, et lancez le vérificateur sur votre fichier. Il contrôle les trois scores, et il fournit les arêtes dans le désordre : un départage oublié apparaît donc comme un échec.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à quatre choses. Compter deux fois une arête non orientée, une fois depuis chaque extrémité. Ajouter le plus grand rayon au lieu du plus petit, ce qui rend tout proche de tout. Oublier le départage : A–B et D–E changent alors de place d'une exécution à l'autre. Et compter les nets bruts sur une netlist. Des nets très larges comme le reset collent alors des cellules sans rapport.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 passer les trois vérifications de référence. Puis expliquez pourquoi A–C monte avec le score par voisins communs. Expliquez aussi pourquoi le graphe de priorité change sa première fusion. Faites le petit quiz. Passez ensuite à la fusion gloutonne par paires, où ces scores deviennent la règle.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Métriques d'affinité</a:t>
            </a:r>
          </a:p>
          <a:p>
            <a:pPr algn="ctr">
              <a:lnSpc>
                <a:spcPts val="2200"/>
              </a:lnSpc>
              <a:spcBef>
                <a:spcPts val="1400"/>
              </a:spcBef>
            </a:pPr>
            <a:r>
              <a:rPr sz="2600" b="0">
                <a:solidFill>
                  <a:srgbClr val="333333"/>
                </a:solidFill>
                <a:latin typeface="Calibri"/>
              </a:rPr>
              <a:t>Avant de fusionner des cellules ou de réduire une netlist, il faut savoir lesquelles vont ensemble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 petit graphe pondéré</a:t>
            </a:r>
          </a:p>
        </p:txBody>
      </p:sp>
      <p:pic>
        <p:nvPicPr>
          <p:cNvPr id="3" name="Picture 2" descr="01-raw-graph.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Un petit graphe pondéré</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L'affinité par poids d'arête classe les paires</a:t>
            </a:r>
          </a:p>
        </p:txBody>
      </p:sp>
      <p:pic>
        <p:nvPicPr>
          <p:cNvPr id="3" name="Picture 2" descr="02-edge-rank.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L'affinité par poids d'arête classe les paires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Les voisins communs renforcent A–B</a:t>
            </a:r>
          </a:p>
        </p:txBody>
      </p:sp>
      <p:pic>
        <p:nvPicPr>
          <p:cNvPr id="3" name="Picture 2" descr="03-shared-idea.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Les voisins communs renforcent 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classement par voisins communs rebat les cartes</a:t>
            </a:r>
          </a:p>
        </p:txBody>
      </p:sp>
      <p:pic>
        <p:nvPicPr>
          <p:cNvPr id="3" name="Picture 2" descr="04-shared-rank.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 classement par voisins communs rebat les cartes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Pourquoi l'affinité compte en EDA</a:t>
            </a:r>
          </a:p>
        </p:txBody>
      </p:sp>
      <p:pic>
        <p:nvPicPr>
          <p:cNvPr id="3" name="Picture 2" descr="05-takeaway.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Pourquoi l'affinité compte en EDA</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score par voisins communs en 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Voici le score par voisins communs sous forme de code</a:t>
            </a:r>
          </a:p>
          <a:p>
            <a:pPr lvl="0" marL="457200" indent="-228600">
              <a:buFont typeface="Calibri"/>
              <a:spcAft>
                <a:spcPts val="1000"/>
              </a:spcAft>
              <a:buSzPct val="100000"/>
              <a:buChar char="•"/>
              <a:lnSpc>
                <a:spcPts val="2200"/>
              </a:lnSpc>
            </a:pPr>
            <a:r>
              <a:rPr sz="2000" b="0">
                <a:solidFill>
                  <a:srgbClr val="333333"/>
                </a:solidFill>
                <a:latin typeface="Calibri"/>
              </a:rPr>
              <a:t>D'abord, chaque arête existante ajoute son poids à sa paire</a:t>
            </a:r>
          </a:p>
          <a:p>
            <a:pPr lvl="0" marL="457200" indent="-228600">
              <a:buFont typeface="Calibri"/>
              <a:spcAft>
                <a:spcPts val="1000"/>
              </a:spcAft>
              <a:buSzPct val="100000"/>
              <a:buChar char="•"/>
              <a:lnSpc>
                <a:spcPts val="2200"/>
              </a:lnSpc>
            </a:pPr>
            <a:r>
              <a:rPr sz="2000" b="0">
                <a:solidFill>
                  <a:srgbClr val="333333"/>
                </a:solidFill>
                <a:latin typeface="Calibri"/>
              </a:rPr>
              <a:t>Ensuite, on prend chaque paire de nœuds et chacun de leurs voisins communs</a:t>
            </a:r>
          </a:p>
          <a:p>
            <a:pPr lvl="0" marL="457200" indent="-228600">
              <a:buFont typeface="Calibri"/>
              <a:spcAft>
                <a:spcPts val="1000"/>
              </a:spcAft>
              <a:buSzPct val="100000"/>
              <a:buChar char="•"/>
              <a:lnSpc>
                <a:spcPts val="2200"/>
              </a:lnSpc>
            </a:pPr>
            <a:r>
              <a:rPr sz="2000" b="0">
                <a:solidFill>
                  <a:srgbClr val="333333"/>
                </a:solidFill>
                <a:latin typeface="Calibri"/>
              </a:rPr>
              <a:t>Pour chaque voisin commun, on ajoute le plus petit des deux poids vers la paire</a:t>
            </a:r>
          </a:p>
          <a:p>
            <a:pPr lvl="0" marL="457200" indent="-228600">
              <a:buFont typeface="Calibri"/>
              <a:spcAft>
                <a:spcPts val="1000"/>
              </a:spcAft>
              <a:buSzPct val="100000"/>
              <a:buChar char="•"/>
              <a:lnSpc>
                <a:spcPts val="2200"/>
              </a:lnSpc>
            </a:pPr>
            <a:r>
              <a:rPr sz="2000" b="0">
                <a:solidFill>
                  <a:srgbClr val="333333"/>
                </a:solidFill>
                <a:latin typeface="Calibri"/>
              </a:rPr>
              <a:t>Une paire dont le score dépasse zéro est gardée</a:t>
            </a:r>
          </a:p>
          <a:p>
            <a:pPr lvl="0" marL="457200" indent="-228600">
              <a:buFont typeface="Calibri"/>
              <a:spcAft>
                <a:spcPts val="1000"/>
              </a:spcAft>
              <a:buSzPct val="100000"/>
              <a:buChar char="•"/>
              <a:lnSpc>
                <a:spcPts val="2200"/>
              </a:lnSpc>
            </a:pPr>
            <a:r>
              <a:rPr sz="2000" b="0">
                <a:solidFill>
                  <a:srgbClr val="333333"/>
                </a:solidFill>
                <a:latin typeface="Calibri"/>
              </a:rPr>
              <a:t>Enfin, on trie par score décroissant, et on départage les égalités par ordre alphabétique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score par voisins communs en pseudo-code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affinity_shared_neighbors(nodes, edges):</a:t>
            </a:r>
          </a:p>
          <a:p>
            <a:pPr>
              <a:lnSpc>
                <a:spcPts val="2200"/>
              </a:lnSpc>
              <a:spcAft>
                <a:spcPts val="400"/>
              </a:spcAft>
            </a:pPr>
            <a:r>
              <a:rPr sz="2000" b="0">
                <a:solidFill>
                  <a:srgbClr val="333333"/>
                </a:solidFill>
                <a:latin typeface="Consolas"/>
              </a:rPr>
              <a:t>  score[u,v] = w(u,v) pour chaque arête</a:t>
            </a:r>
          </a:p>
          <a:p>
            <a:pPr>
              <a:lnSpc>
                <a:spcPts val="2200"/>
              </a:lnSpc>
              <a:spcAft>
                <a:spcPts val="400"/>
              </a:spcAft>
            </a:pPr>
            <a:r>
              <a:rPr sz="2000" b="0">
                <a:solidFill>
                  <a:srgbClr val="333333"/>
                </a:solidFill>
                <a:latin typeface="Consolas"/>
              </a:rPr>
              <a:t>  pour chaque paire (u, v) de nœuds :</a:t>
            </a:r>
          </a:p>
          <a:p>
            <a:pPr>
              <a:lnSpc>
                <a:spcPts val="2200"/>
              </a:lnSpc>
              <a:spcAft>
                <a:spcPts val="400"/>
              </a:spcAft>
            </a:pPr>
            <a:r>
              <a:rPr sz="2000" b="0">
                <a:solidFill>
                  <a:srgbClr val="333333"/>
                </a:solidFill>
                <a:latin typeface="Consolas"/>
              </a:rPr>
              <a:t>    s = 0</a:t>
            </a:r>
          </a:p>
          <a:p>
            <a:pPr>
              <a:lnSpc>
                <a:spcPts val="2200"/>
              </a:lnSpc>
              <a:spcAft>
                <a:spcPts val="400"/>
              </a:spcAft>
            </a:pPr>
            <a:r>
              <a:rPr sz="2000" b="0">
                <a:solidFill>
                  <a:srgbClr val="333333"/>
                </a:solidFill>
                <a:latin typeface="Consolas"/>
              </a:rPr>
              <a:t>    pour x dans voisins(u), x != v :</a:t>
            </a:r>
          </a:p>
          <a:p>
            <a:pPr>
              <a:lnSpc>
                <a:spcPts val="2200"/>
              </a:lnSpc>
              <a:spcAft>
                <a:spcPts val="400"/>
              </a:spcAft>
            </a:pPr>
            <a:r>
              <a:rPr sz="2000" b="0">
                <a:solidFill>
                  <a:srgbClr val="333333"/>
                </a:solidFill>
                <a:latin typeface="Consolas"/>
              </a:rPr>
              <a:t>      si x dans voisins(v) :</a:t>
            </a:r>
          </a:p>
          <a:p>
            <a:pPr>
              <a:lnSpc>
                <a:spcPts val="2200"/>
              </a:lnSpc>
              <a:spcAft>
                <a:spcPts val="400"/>
              </a:spcAft>
            </a:pPr>
            <a:r>
              <a:rPr sz="2000" b="0">
                <a:solidFill>
                  <a:srgbClr val="333333"/>
                </a:solidFill>
                <a:latin typeface="Consolas"/>
              </a:rPr>
              <a:t>        s += min(w(u,x), w(v,x))</a:t>
            </a:r>
          </a:p>
          <a:p>
            <a:pPr>
              <a:lnSpc>
                <a:spcPts val="2200"/>
              </a:lnSpc>
              <a:spcAft>
                <a:spcPts val="400"/>
              </a:spcAft>
            </a:pPr>
            <a:r>
              <a:rPr sz="2000" b="0">
                <a:solidFill>
                  <a:srgbClr val="333333"/>
                </a:solidFill>
                <a:latin typeface="Consolas"/>
              </a:rPr>
              <a:t>    si s &gt; 0 ou (u,v) a une arête :</a:t>
            </a:r>
          </a:p>
          <a:p>
            <a:pPr>
              <a:lnSpc>
                <a:spcPts val="2200"/>
              </a:lnSpc>
              <a:spcAft>
                <a:spcPts val="400"/>
              </a:spcAft>
            </a:pPr>
            <a:r>
              <a:rPr sz="2000" b="0">
                <a:solidFill>
                  <a:srgbClr val="333333"/>
                </a:solidFill>
                <a:latin typeface="Consolas"/>
              </a:rPr>
              <a:t>      score[u,v] += s</a:t>
            </a:r>
          </a:p>
          <a:p>
            <a:pPr>
              <a:lnSpc>
                <a:spcPts val="2200"/>
              </a:lnSpc>
              <a:spcAft>
                <a:spcPts val="400"/>
              </a:spcAft>
            </a:pPr>
            <a:r>
              <a:rPr sz="2000" b="0">
                <a:solidFill>
                  <a:srgbClr val="333333"/>
                </a:solidFill>
                <a:latin typeface="Consolas"/>
              </a:rPr>
              <a:t>  trier par score (décroissant), puis u, puis 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Dix paires, pas six</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Avec le score par voisins communs, le graphe de départ donne dix paires, et non six</a:t>
            </a:r>
          </a:p>
          <a:p>
            <a:pPr lvl="0" marL="457200" indent="-228600">
              <a:buFont typeface="Calibri"/>
              <a:spcAft>
                <a:spcPts val="1000"/>
              </a:spcAft>
              <a:buSzPct val="100000"/>
              <a:buChar char="•"/>
              <a:lnSpc>
                <a:spcPts val="2200"/>
              </a:lnSpc>
            </a:pPr>
            <a:r>
              <a:rPr sz="2000" b="0">
                <a:solidFill>
                  <a:srgbClr val="333333"/>
                </a:solidFill>
                <a:latin typeface="Calibri"/>
              </a:rPr>
              <a:t>Quatre d'entre elles n'ont aucune arête</a:t>
            </a:r>
          </a:p>
          <a:p>
            <a:pPr lvl="0" marL="457200" indent="-228600">
              <a:buFont typeface="Calibri"/>
              <a:spcAft>
                <a:spcPts val="1000"/>
              </a:spcAft>
              <a:buSzPct val="100000"/>
              <a:buChar char="•"/>
              <a:lnSpc>
                <a:spcPts val="2200"/>
              </a:lnSpc>
            </a:pPr>
            <a:r>
              <a:rPr sz="2000" b="0">
                <a:solidFill>
                  <a:srgbClr val="333333"/>
                </a:solidFill>
                <a:latin typeface="Calibri"/>
              </a:rPr>
              <a:t>B et D sont tous les deux reliés à C, donc B–D obtient le plus petit rayon : deux</a:t>
            </a:r>
          </a:p>
          <a:p>
            <a:pPr lvl="0" marL="457200" indent="-228600">
              <a:buFont typeface="Calibri"/>
              <a:spcAft>
                <a:spcPts val="1000"/>
              </a:spcAft>
              <a:buSzPct val="100000"/>
              <a:buChar char="•"/>
              <a:lnSpc>
                <a:spcPts val="2200"/>
              </a:lnSpc>
            </a:pPr>
            <a:r>
              <a:rPr sz="2000" b="0">
                <a:solidFill>
                  <a:srgbClr val="333333"/>
                </a:solidFill>
                <a:latin typeface="Calibri"/>
              </a:rPr>
              <a:t>A–D, A–E et B–E gagnent chacune un, en passant par C</a:t>
            </a:r>
          </a:p>
          <a:p>
            <a:pPr lvl="0" marL="457200" indent="-228600">
              <a:buFont typeface="Calibri"/>
              <a:spcAft>
                <a:spcPts val="1000"/>
              </a:spcAft>
              <a:buSzPct val="100000"/>
              <a:buChar char="•"/>
              <a:lnSpc>
                <a:spcPts val="2200"/>
              </a:lnSpc>
            </a:pPr>
            <a:r>
              <a:rPr sz="2000" b="0">
                <a:solidFill>
                  <a:srgbClr val="333333"/>
                </a:solidFill>
                <a:latin typeface="Calibri"/>
              </a:rPr>
              <a:t>Ces paires ne sont pas des erreurs</a:t>
            </a:r>
          </a:p>
          <a:p>
            <a:pPr lvl="0" marL="457200" indent="-228600">
              <a:buFont typeface="Calibri"/>
              <a:spcAft>
                <a:spcPts val="1000"/>
              </a:spcAft>
              <a:buSzPct val="100000"/>
              <a:buChar char="•"/>
              <a:lnSpc>
                <a:spcPts val="2200"/>
              </a:lnSpc>
            </a:pPr>
            <a:r>
              <a:rPr sz="2000" b="0">
                <a:solidFill>
                  <a:srgbClr val="333333"/>
                </a:solidFill>
                <a:latin typeface="Calibri"/>
              </a:rPr>
              <a:t>Elles disent que deux cellules sont proches, même sans fil direct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Même graphe, première fusion différente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Prenons un triangle serré P, Q, R, dont chaque arête pèse quatre</a:t>
            </a:r>
          </a:p>
          <a:p>
            <a:pPr lvl="0" marL="457200" indent="-228600">
              <a:buFont typeface="Calibri"/>
              <a:spcAft>
                <a:spcPts val="1000"/>
              </a:spcAft>
              <a:buSzPct val="100000"/>
              <a:buChar char="•"/>
              <a:lnSpc>
                <a:spcPts val="2200"/>
              </a:lnSpc>
            </a:pPr>
            <a:r>
              <a:rPr sz="2000" b="0">
                <a:solidFill>
                  <a:srgbClr val="333333"/>
                </a:solidFill>
                <a:latin typeface="Calibri"/>
              </a:rPr>
              <a:t>Ajoutons une paire isolée X–Y, de poids cinq</a:t>
            </a:r>
          </a:p>
          <a:p>
            <a:pPr lvl="0" marL="457200" indent="-228600">
              <a:buFont typeface="Calibri"/>
              <a:spcAft>
                <a:spcPts val="1000"/>
              </a:spcAft>
              <a:buSzPct val="100000"/>
              <a:buChar char="•"/>
              <a:lnSpc>
                <a:spcPts val="2200"/>
              </a:lnSpc>
            </a:pPr>
            <a:r>
              <a:rPr sz="2000" b="0">
                <a:solidFill>
                  <a:srgbClr val="333333"/>
                </a:solidFill>
                <a:latin typeface="Calibri"/>
              </a:rPr>
              <a:t>Le poids d'arête choisit d'abord X–Y, car cinq bat quatre</a:t>
            </a:r>
          </a:p>
          <a:p>
            <a:pPr lvl="0" marL="457200" indent="-228600">
              <a:buFont typeface="Calibri"/>
              <a:spcAft>
                <a:spcPts val="1000"/>
              </a:spcAft>
              <a:buSzPct val="100000"/>
              <a:buChar char="•"/>
              <a:lnSpc>
                <a:spcPts val="2200"/>
              </a:lnSpc>
            </a:pPr>
            <a:r>
              <a:rPr sz="2000" b="0">
                <a:solidFill>
                  <a:srgbClr val="333333"/>
                </a:solidFill>
                <a:latin typeface="Calibri"/>
              </a:rPr>
              <a:t>Le score par voisins communs donne à P–Q quatre, plus quatre via R : huit</a:t>
            </a:r>
          </a:p>
          <a:p>
            <a:pPr lvl="0" marL="457200" indent="-228600">
              <a:buFont typeface="Calibri"/>
              <a:spcAft>
                <a:spcPts val="1000"/>
              </a:spcAft>
              <a:buSzPct val="100000"/>
              <a:buChar char="•"/>
              <a:lnSpc>
                <a:spcPts val="2200"/>
              </a:lnSpc>
            </a:pPr>
            <a:r>
              <a:rPr sz="2000" b="0">
                <a:solidFill>
                  <a:srgbClr val="333333"/>
                </a:solidFill>
                <a:latin typeface="Calibri"/>
              </a:rPr>
              <a:t>X–Y n'a aucun voisin commun, donc reste à cinq</a:t>
            </a:r>
          </a:p>
          <a:p>
            <a:pPr lvl="0" marL="457200" indent="-228600">
              <a:buFont typeface="Calibri"/>
              <a:spcAft>
                <a:spcPts val="1000"/>
              </a:spcAft>
              <a:buSzPct val="100000"/>
              <a:buChar char="•"/>
              <a:lnSpc>
                <a:spcPts val="2200"/>
              </a:lnSpc>
            </a:pPr>
            <a:r>
              <a:rPr sz="2000" b="0">
                <a:solidFill>
                  <a:srgbClr val="333333"/>
                </a:solidFill>
                <a:latin typeface="Calibri"/>
              </a:rPr>
              <a:t>Même graphe, même moteur de fusion, mais une première fusion différente</a:t>
            </a:r>
          </a:p>
        </p:txBody>
      </p:sp>
      <p:pic>
        <p:nvPicPr>
          <p:cNvPr id="4" name="Picture 3" descr="priority-graph.png"/>
          <p:cNvPicPr>
            <a:picLocks noChangeAspect="1"/>
          </p:cNvPicPr>
          <p:nvPr/>
        </p:nvPicPr>
        <p:blipFill>
          <a:blip r:embed="rId2"/>
          <a:stretch>
            <a:fillRect/>
          </a:stretch>
        </p:blipFill>
        <p:spPr>
          <a:xfrm>
            <a:off x="6172200" y="1234440"/>
            <a:ext cx="3548417"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Des nets à nombreuses broches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Les vraies netlists ne sont pas faites de simples arêtes</a:t>
            </a:r>
          </a:p>
          <a:p>
            <a:pPr lvl="0" marL="457200" indent="-228600">
              <a:buFont typeface="Calibri"/>
              <a:spcAft>
                <a:spcPts val="1000"/>
              </a:spcAft>
              <a:buSzPct val="100000"/>
              <a:buChar char="•"/>
              <a:lnSpc>
                <a:spcPts val="2200"/>
              </a:lnSpc>
            </a:pPr>
            <a:r>
              <a:rPr sz="2000" b="0">
                <a:solidFill>
                  <a:srgbClr val="333333"/>
                </a:solidFill>
                <a:latin typeface="Calibri"/>
              </a:rPr>
              <a:t>Un seul net peut relier de nombreuses cellules, comme une ligne de reset ou d'enable</a:t>
            </a:r>
          </a:p>
          <a:p>
            <a:pPr lvl="0" marL="457200" indent="-228600">
              <a:buFont typeface="Calibri"/>
              <a:spcAft>
                <a:spcPts val="1000"/>
              </a:spcAft>
              <a:buSzPct val="100000"/>
              <a:buChar char="•"/>
              <a:lnSpc>
                <a:spcPts val="2200"/>
              </a:lnSpc>
            </a:pPr>
            <a:r>
              <a:rPr sz="2000" b="0">
                <a:solidFill>
                  <a:srgbClr val="333333"/>
                </a:solidFill>
                <a:latin typeface="Calibri"/>
              </a:rPr>
              <a:t>Compter chaque net partagé à plein poids rapproche A et B à tort</a:t>
            </a:r>
          </a:p>
          <a:p>
            <a:pPr lvl="0" marL="457200" indent="-228600">
              <a:buFont typeface="Calibri"/>
              <a:spcAft>
                <a:spcPts val="1000"/>
              </a:spcAft>
              <a:buSzPct val="100000"/>
              <a:buChar char="•"/>
              <a:lnSpc>
                <a:spcPts val="2200"/>
              </a:lnSpc>
            </a:pPr>
            <a:r>
              <a:rPr sz="2000" b="0">
                <a:solidFill>
                  <a:srgbClr val="333333"/>
                </a:solidFill>
                <a:latin typeface="Calibri"/>
              </a:rPr>
              <a:t>Elles semblent proches simplement parce qu'elles voient toutes les deux le reset</a:t>
            </a:r>
          </a:p>
          <a:p>
            <a:pPr lvl="0" marL="457200" indent="-228600">
              <a:buFont typeface="Calibri"/>
              <a:spcAft>
                <a:spcPts val="1000"/>
              </a:spcAft>
              <a:buSzPct val="100000"/>
              <a:buChar char="•"/>
              <a:lnSpc>
                <a:spcPts val="2200"/>
              </a:lnSpc>
            </a:pPr>
            <a:r>
              <a:rPr sz="2000" b="0">
                <a:solidFill>
                  <a:srgbClr val="333333"/>
                </a:solidFill>
                <a:latin typeface="Calibri"/>
              </a:rPr>
              <a:t>Le score par nombre de broches corrige cela</a:t>
            </a:r>
          </a:p>
          <a:p>
            <a:pPr lvl="0" marL="457200" indent="-228600">
              <a:buFont typeface="Calibri"/>
              <a:spcAft>
                <a:spcPts val="1000"/>
              </a:spcAft>
              <a:buSzPct val="100000"/>
              <a:buChar char="•"/>
              <a:lnSpc>
                <a:spcPts val="2200"/>
              </a:lnSpc>
            </a:pPr>
            <a:r>
              <a:rPr sz="2000" b="0">
                <a:solidFill>
                  <a:srgbClr val="333333"/>
                </a:solidFill>
                <a:latin typeface="Calibri"/>
              </a:rPr>
              <a:t>Chaque net divise son poids par son nombre de broches moins 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Des nets à nombreuses broches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petite netlist : en {A,B,C,D,E}, rst {A,B,C,D,E}, n1 {E,F}</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nombre brut de nets    nombre de broches w/(|e|-1)</a:t>
            </a:r>
          </a:p>
          <a:p>
            <a:pPr>
              <a:lnSpc>
                <a:spcPts val="2200"/>
              </a:lnSpc>
              <a:spcAft>
                <a:spcPts val="400"/>
              </a:spcAft>
            </a:pPr>
            <a:r>
              <a:rPr sz="2000" b="0">
                <a:solidFill>
                  <a:srgbClr val="333333"/>
                </a:solidFill>
                <a:latin typeface="Consolas"/>
              </a:rPr>
              <a:t>A-B        1 + 1 = 2              1/4 + 1/4 = 0.5</a:t>
            </a:r>
          </a:p>
          <a:p>
            <a:pPr>
              <a:lnSpc>
                <a:spcPts val="2200"/>
              </a:lnSpc>
              <a:spcAft>
                <a:spcPts val="400"/>
              </a:spcAft>
            </a:pPr>
            <a:r>
              <a:rPr sz="2000" b="0">
                <a:solidFill>
                  <a:srgbClr val="333333"/>
                </a:solidFill>
                <a:latin typeface="Consolas"/>
              </a:rPr>
              <a:t>E-F        1                      1/1 = 1.0</a:t>
            </a:r>
          </a:p>
          <a:p>
            <a:pPr>
              <a:lnSpc>
                <a:spcPts val="2200"/>
              </a:lnSpc>
              <a:spcAft>
                <a:spcPts val="400"/>
              </a:spcAft>
            </a:pPr>
            <a:r>
              <a:rPr sz="2000" b="0">
                <a:solidFill>
                  <a:srgbClr val="333333"/>
                </a:solidFill>
                <a:latin typeface="Consolas"/>
              </a:rPr>
              <a:t>1re fusion A-B                    E-F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parcours lab dans le navigateur</a:t>
            </a:r>
          </a:p>
        </p:txBody>
      </p:sp>
      <p:pic>
        <p:nvPicPr>
          <p:cNvPr id="3" name="Picture 2" descr="lab-starter.png"/>
          <p:cNvPicPr>
            <a:picLocks noChangeAspect="1"/>
          </p:cNvPicPr>
          <p:nvPr/>
        </p:nvPicPr>
        <p:blipFill>
          <a:blip r:embed="rId2"/>
          <a:stretch>
            <a:fillRect/>
          </a:stretch>
        </p:blipFill>
        <p:spPr>
          <a:xfrm>
            <a:off x="548640" y="1143000"/>
            <a:ext cx="621950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 lab dans le navigateur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parcours implémentation</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Session dans un vrai terminal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parcours implémentation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indiquer à Python où sont les fonctions partagées</a:t>
            </a:r>
          </a:p>
          <a:p>
            <a:pPr>
              <a:lnSpc>
                <a:spcPts val="2200"/>
              </a:lnSpc>
              <a:spcAft>
                <a:spcPts val="400"/>
              </a:spcAft>
            </a:pPr>
            <a:r>
              <a:rPr sz="2000" b="0">
                <a:solidFill>
                  <a:srgbClr val="333333"/>
                </a:solidFill>
                <a:latin typeface="Consolas"/>
              </a:rPr>
              <a:t>export PYTHONPATH=../common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les deux classements : graphe de départ, puis graphe de priorité</a:t>
            </a:r>
          </a:p>
          <a:p>
            <a:pPr>
              <a:lnSpc>
                <a:spcPts val="2200"/>
              </a:lnSpc>
              <a:spcAft>
                <a:spcPts val="400"/>
              </a:spcAft>
            </a:pPr>
            <a:r>
              <a:rPr sz="2000" b="0">
                <a:solidFill>
                  <a:srgbClr val="333333"/>
                </a:solidFill>
                <a:latin typeface="Consolas"/>
              </a:rPr>
              <a:t>python3 ../common/solvers.py examples/tiny_graph.json --mode</a:t>
            </a:r>
          </a:p>
          <a:p>
            <a:pPr>
              <a:lnSpc>
                <a:spcPts val="2200"/>
              </a:lnSpc>
              <a:spcAft>
                <a:spcPts val="400"/>
              </a:spcAft>
            </a:pPr>
            <a:r>
              <a:rPr sz="2000" b="0">
                <a:solidFill>
                  <a:srgbClr val="333333"/>
                </a:solidFill>
                <a:latin typeface="Consolas"/>
              </a:rPr>
              <a:t>affinity</a:t>
            </a:r>
          </a:p>
          <a:p>
            <a:pPr>
              <a:lnSpc>
                <a:spcPts val="2200"/>
              </a:lnSpc>
              <a:spcAft>
                <a:spcPts val="400"/>
              </a:spcAft>
            </a:pPr>
            <a:r>
              <a:rPr sz="2000" b="0">
                <a:solidFill>
                  <a:srgbClr val="333333"/>
                </a:solidFill>
                <a:latin typeface="Consolas"/>
              </a:rPr>
              <a:t>python3 ../common/solvers.py examples/priority_graph.json --mode</a:t>
            </a:r>
          </a:p>
          <a:p>
            <a:pPr>
              <a:lnSpc>
                <a:spcPts val="2200"/>
              </a:lnSpc>
              <a:spcAft>
                <a:spcPts val="400"/>
              </a:spcAft>
            </a:pPr>
            <a:r>
              <a:rPr sz="2000" b="0">
                <a:solidFill>
                  <a:srgbClr val="333333"/>
                </a:solidFill>
                <a:latin typeface="Consolas"/>
              </a:rPr>
              <a:t>affinity</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vérifier tous les résultats de référence sur vos propres fonctions</a:t>
            </a:r>
          </a:p>
          <a:p>
            <a:pPr>
              <a:lnSpc>
                <a:spcPts val="2200"/>
              </a:lnSpc>
              <a:spcAft>
                <a:spcPts val="400"/>
              </a:spcAft>
            </a:pPr>
            <a:r>
              <a:rPr sz="2000" b="0">
                <a:solidFill>
                  <a:srgbClr val="333333"/>
                </a:solidFill>
                <a:latin typeface="Consolas"/>
              </a:rPr>
              <a:t>python3 examples/affinity_check.py --impl my_affinity.py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Les pièges à éviter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Attention à quatre choses</a:t>
            </a:r>
          </a:p>
          <a:p>
            <a:pPr lvl="0" marL="457200" indent="-228600">
              <a:buFont typeface="Calibri"/>
              <a:spcAft>
                <a:spcPts val="1000"/>
              </a:spcAft>
              <a:buSzPct val="100000"/>
              <a:buChar char="•"/>
              <a:lnSpc>
                <a:spcPts val="2200"/>
              </a:lnSpc>
            </a:pPr>
            <a:r>
              <a:rPr sz="2000" b="0">
                <a:solidFill>
                  <a:srgbClr val="333333"/>
                </a:solidFill>
                <a:latin typeface="Calibri"/>
              </a:rPr>
              <a:t>Compter deux fois une arête non orientée, une fois depuis chaque extrémité</a:t>
            </a:r>
          </a:p>
          <a:p>
            <a:pPr lvl="0" marL="457200" indent="-228600">
              <a:buFont typeface="Calibri"/>
              <a:spcAft>
                <a:spcPts val="1000"/>
              </a:spcAft>
              <a:buSzPct val="100000"/>
              <a:buChar char="•"/>
              <a:lnSpc>
                <a:spcPts val="2200"/>
              </a:lnSpc>
            </a:pPr>
            <a:r>
              <a:rPr sz="2000" b="0">
                <a:solidFill>
                  <a:srgbClr val="333333"/>
                </a:solidFill>
                <a:latin typeface="Calibri"/>
              </a:rPr>
              <a:t>Ajouter le plus grand rayon au lieu du plus petit, ce qui rend tout proche de tout</a:t>
            </a:r>
          </a:p>
          <a:p>
            <a:pPr lvl="0" marL="457200" indent="-228600">
              <a:buFont typeface="Calibri"/>
              <a:spcAft>
                <a:spcPts val="1000"/>
              </a:spcAft>
              <a:buSzPct val="100000"/>
              <a:buChar char="•"/>
              <a:lnSpc>
                <a:spcPts val="2200"/>
              </a:lnSpc>
            </a:pPr>
            <a:r>
              <a:rPr sz="2000" b="0">
                <a:solidFill>
                  <a:srgbClr val="333333"/>
                </a:solidFill>
                <a:latin typeface="Calibri"/>
              </a:rPr>
              <a:t>Oublier le départage : A–B et D–E changent alors de place d'une exécution à l'autre</a:t>
            </a:r>
          </a:p>
          <a:p>
            <a:pPr lvl="0" marL="457200" indent="-228600">
              <a:buFont typeface="Calibri"/>
              <a:spcAft>
                <a:spcPts val="1000"/>
              </a:spcAft>
              <a:buSzPct val="100000"/>
              <a:buChar char="•"/>
              <a:lnSpc>
                <a:spcPts val="2200"/>
              </a:lnSpc>
            </a:pPr>
            <a:r>
              <a:rPr sz="2000" b="0">
                <a:solidFill>
                  <a:srgbClr val="333333"/>
                </a:solidFill>
                <a:latin typeface="Calibri"/>
              </a:rPr>
              <a:t>Et compter les nets bruts sur une netlist</a:t>
            </a:r>
          </a:p>
          <a:p>
            <a:pPr lvl="0" marL="457200" indent="-228600">
              <a:buFont typeface="Calibri"/>
              <a:spcAft>
                <a:spcPts val="1000"/>
              </a:spcAft>
              <a:buSzPct val="100000"/>
              <a:buChar char="•"/>
              <a:lnSpc>
                <a:spcPts val="2200"/>
              </a:lnSpc>
            </a:pPr>
            <a:r>
              <a:rPr sz="2000" b="0">
                <a:solidFill>
                  <a:srgbClr val="333333"/>
                </a:solidFill>
                <a:latin typeface="Calibri"/>
              </a:rPr>
              <a:t>Des nets très larges comme le reset collent alors des cellules sans rapport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À vous de jouer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Faites passer les trois vérifications de référence</a:t>
            </a:r>
          </a:p>
          <a:p>
            <a:pPr lvl="0" marL="457200" indent="-228600">
              <a:buFont typeface="Calibri"/>
              <a:spcAft>
                <a:spcPts val="1000"/>
              </a:spcAft>
              <a:buSzPct val="100000"/>
              <a:buChar char="•"/>
              <a:lnSpc>
                <a:spcPts val="2200"/>
              </a:lnSpc>
            </a:pPr>
            <a:r>
              <a:rPr sz="2000" b="0">
                <a:solidFill>
                  <a:srgbClr val="333333"/>
                </a:solidFill>
                <a:latin typeface="Calibri"/>
              </a:rPr>
              <a:t>Puis expliquez pourquoi A–C monte avec le score par voisins communs</a:t>
            </a:r>
          </a:p>
          <a:p>
            <a:pPr lvl="0" marL="457200" indent="-228600">
              <a:buFont typeface="Calibri"/>
              <a:spcAft>
                <a:spcPts val="1000"/>
              </a:spcAft>
              <a:buSzPct val="100000"/>
              <a:buChar char="•"/>
              <a:lnSpc>
                <a:spcPts val="2200"/>
              </a:lnSpc>
            </a:pPr>
            <a:r>
              <a:rPr sz="2000" b="0">
                <a:solidFill>
                  <a:srgbClr val="333333"/>
                </a:solidFill>
                <a:latin typeface="Calibri"/>
              </a:rPr>
              <a:t>Expliquez aussi pourquoi le graphe de priorité change sa première fusion</a:t>
            </a:r>
          </a:p>
          <a:p>
            <a:pPr lvl="0" marL="457200" indent="-228600">
              <a:buFont typeface="Calibri"/>
              <a:spcAft>
                <a:spcPts val="1000"/>
              </a:spcAft>
              <a:buSzPct val="100000"/>
              <a:buChar char="•"/>
              <a:lnSpc>
                <a:spcPts val="2200"/>
              </a:lnSpc>
            </a:pPr>
            <a:r>
              <a:rPr sz="2000" b="0">
                <a:solidFill>
                  <a:srgbClr val="333333"/>
                </a:solidFill>
                <a:latin typeface="Calibri"/>
              </a:rPr>
              <a:t>Faites le petit quiz</a:t>
            </a:r>
          </a:p>
          <a:p>
            <a:pPr lvl="0" marL="457200" indent="-228600">
              <a:buFont typeface="Calibri"/>
              <a:spcAft>
                <a:spcPts val="1000"/>
              </a:spcAft>
              <a:buSzPct val="100000"/>
              <a:buChar char="•"/>
              <a:lnSpc>
                <a:spcPts val="2200"/>
              </a:lnSpc>
            </a:pPr>
            <a:r>
              <a:rPr sz="2000" b="0">
                <a:solidFill>
                  <a:srgbClr val="333333"/>
                </a:solidFill>
                <a:latin typeface="Calibri"/>
              </a:rPr>
              <a:t>Passez ensuite à la fusion gloutonne par paires, où ces scores deviennent la règle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métriques d'affinité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