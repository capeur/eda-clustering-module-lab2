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parts of a chip belong together? That is the question this lab answers. A chip is made of millions of tiny parts called cells. Before a computer can arrange them, it needs to know which cells like to stay close. That liking is a number called affinity. In this lab you'll learn three ways to compute it, and see why the choice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chip contains cells, the small building blocks of the circuit. Cells talk to each other through wires. We draw each cell as a dot, called a node. A line between two dots is an edge: it means the two cells are wired together. The number on an edge is its weight: how many wires join the pair. So A–B has weight five: five wires connect A and B. This drawing is called a graph, and it's the map every algorithm in this course works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Cells that exchange many signals should sit close together. Short wires make the chip faster and save energy. Grouping close cells is called clustering, and each group is a cluster. Think of a seating plan: friends who chat a lot sit at the same table. Here, A, B and C form one group, and D and E form another. Only the red edges cross between the groups, and we want as few of those as possible.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Affinity is a score for each pair of cells. A high score means these two should be in the same group. A low score means they can be apart. Clustering algorithms merge the pair with the highest score first. So the recipe for the score decides everything that follows. This lab compares three recipes on the same small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example for the whole lab: five cells, A to E. The heavy edges are A–B and D–E, with weight five each. C sits in the middle, with thinner links to the others. Keep this picture in mind: we're going to give a score to every pair of cells in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one is the simplest. The score of a pair is just the weight of the edge between them. Then we sort the pairs from highest to lowest, like a leaderboard. A–B and D–E are tied at five. When two scores are equal, we break the tie in alphabetical order, so A–B comes first. A fixed tie-break matters: it makes the computer give the same answer every single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two adds an idea from everyday life: friends of friends. If two people share a close friend, they're probably close too. A and B are directly linked with weight five. They also share a neighbor: C. We add the weaker of the two links through C, which is one, so A–B rises to six. Why the weaker link? Because a chain is only as strong as its weakest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recipe two, A–B and D–E still lead, now at six. But look at A–C: on its own it was a weak edge of one, and now it jumps to five, thanks to B. Even pairs with no edge at all, like B–D, get a score, because they share a neighbor.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stands for electronic design automation: the software that designs chips. In EDA, affinity is the local preference: which cells belong together, before any rule about the whole chip. Bad affinity means bad merges, and fixing them later is much harder.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compute one score together, step by step. Step one: the direct edge A–C has weight one. Step two: A and C have one neighbor in common, B. The links through B weigh five and four, so we keep the smaller one: four. Step three: add them up, one plus four makes five. A–C was weak alone, but becomes strong once its shared friend counts.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recipe two, our small graph gives ten pairs instead of six. Four of them have no wire at all between them. For example, B and D are not wired together, but both are wired to C. So B–D gets the weaker of those two links: two. It's like two people who have never met but share a best friend. Only pairs whose score would be zero are left out.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recipe two written as steps a computer can follow. First, every edge adds its weight to its own pair. Next, for every pair of nodes, look at each neighbor they have in common. For each shared neighbor, add the smaller of its two links to the pair. Keep every pair whose score ends up above zero. Finally, sort from highest to lowest score, and break ties alphabetically.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second example that shows why the recipe matters. Take a tight triangle P, Q, R, with every edge at weight four. Next to it, a lone pair X–Y has weight five. Recipe one picks X–Y first, because five beats four. Recipe two gives P–Q four, plus four through R: eight, so P–Q goes first. Same graph, same merge rule, but a different first merge.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real chip, one wire can connect many cells at once. Such a shared wire is called a net, and each cell it touches is a pin. Think of a group chat with fifty people: it says little about who is friends. A private message between two people says much more. Recipe three works the same way: each net shares its weight among its pins. The rule is the weight divided by the number of pins, minus one. Here, the enable and reset nets touch five cells each, so they give only a quarter to each pair. The private net between E and F gives its full weight,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it's your turn to compute scores, in the browser lab. Click two nodes to pick a pair, even a pair with no edge, work out its score by hand, and type it in. The lab tells you right away if you're correct. You can also build your own ranking, one pair at a time, and change edge weights to see which pair merges first. The ten challenges go from easy to hard. If you get stuck, the breakdown button shows the calculation, but that answer no longer counts for the challenge.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like programming, the implement track is for you. First, print both rankings with the reference program, for the starter graph and then for the priority graph. Then write your own three scoring functions in Python. Finally, run the checker on your file. It compares your answers with the correct ones, and it feeds the edges in a scrambled order, so a missing tie-break shows up as a failure.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out for four common mistakes. Counting an edge twice, once from each end. Adding the stronger link instead of the weaker one, which makes every pair look close. Forgetting the tie-break, so A–B and D–E swap places from one run to the next. And counting big shared nets at full weight, which glues unrelated cells together.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one, edge weight: look only at the direct wire. Recipe two, shared neighbors: add the help of common friends. Recipe three, pin count: big shared nets count less than private ones. Ties are broken alphabetically, so results never change between runs. Different recipes can choose a different first merge. Choosing the recipe is a design decision, not a detail.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the browser lab challenges, or write the three recipes yourself and pass the checker. Then explain two things in your own words. First, why does A–C climb with recipe two? Second, why does the priority graph change its first merge? Take the short quiz, then move on to greedy pair merge. There, these scores become the rule for merging.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Affinity metrics</a:t>
            </a:r>
          </a:p>
          <a:p>
            <a:pPr algn="ctr">
              <a:lnSpc>
                <a:spcPts val="2200"/>
              </a:lnSpc>
              <a:spcBef>
                <a:spcPts val="1400"/>
              </a:spcBef>
            </a:pPr>
            <a:r>
              <a:rPr sz="2600" b="0">
                <a:solidFill>
                  <a:srgbClr val="333333"/>
                </a:solidFill>
                <a:latin typeface="Calibri"/>
              </a:rPr>
              <a:t>Which parts of a chip belong together?</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a chip to a graph</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chip contains cells, the small building blocks of the circuit</a:t>
            </a:r>
          </a:p>
          <a:p>
            <a:pPr lvl="0" marL="457200" indent="-228600">
              <a:buFont typeface="Calibri"/>
              <a:spcAft>
                <a:spcPts val="1000"/>
              </a:spcAft>
              <a:buSzPct val="100000"/>
              <a:buChar char="•"/>
              <a:lnSpc>
                <a:spcPts val="2200"/>
              </a:lnSpc>
            </a:pPr>
            <a:r>
              <a:rPr sz="2000" b="0">
                <a:solidFill>
                  <a:srgbClr val="333333"/>
                </a:solidFill>
                <a:latin typeface="Calibri"/>
              </a:rPr>
              <a:t>Cells talk to each other through wires</a:t>
            </a:r>
          </a:p>
          <a:p>
            <a:pPr lvl="0" marL="457200" indent="-228600">
              <a:buFont typeface="Calibri"/>
              <a:spcAft>
                <a:spcPts val="1000"/>
              </a:spcAft>
              <a:buSzPct val="100000"/>
              <a:buChar char="•"/>
              <a:lnSpc>
                <a:spcPts val="2200"/>
              </a:lnSpc>
            </a:pPr>
            <a:r>
              <a:rPr sz="2000" b="0">
                <a:solidFill>
                  <a:srgbClr val="333333"/>
                </a:solidFill>
                <a:latin typeface="Calibri"/>
              </a:rPr>
              <a:t>We draw each cell as a dot, called a node</a:t>
            </a:r>
          </a:p>
          <a:p>
            <a:pPr lvl="0" marL="457200" indent="-228600">
              <a:buFont typeface="Calibri"/>
              <a:spcAft>
                <a:spcPts val="1000"/>
              </a:spcAft>
              <a:buSzPct val="100000"/>
              <a:buChar char="•"/>
              <a:lnSpc>
                <a:spcPts val="2200"/>
              </a:lnSpc>
            </a:pPr>
            <a:r>
              <a:rPr sz="2000" b="0">
                <a:solidFill>
                  <a:srgbClr val="333333"/>
                </a:solidFill>
                <a:latin typeface="Calibri"/>
              </a:rPr>
              <a:t>A line between two dots is an edge: it means the two cells are wired together</a:t>
            </a:r>
          </a:p>
          <a:p>
            <a:pPr lvl="0" marL="457200" indent="-228600">
              <a:buFont typeface="Calibri"/>
              <a:spcAft>
                <a:spcPts val="1000"/>
              </a:spcAft>
              <a:buSzPct val="100000"/>
              <a:buChar char="•"/>
              <a:lnSpc>
                <a:spcPts val="2200"/>
              </a:lnSpc>
            </a:pPr>
            <a:r>
              <a:rPr sz="2000" b="0">
                <a:solidFill>
                  <a:srgbClr val="333333"/>
                </a:solidFill>
                <a:latin typeface="Calibri"/>
              </a:rPr>
              <a:t>The number on an edge is its weight: how many wires join the pair</a:t>
            </a:r>
          </a:p>
          <a:p>
            <a:pPr lvl="0" marL="457200" indent="-228600">
              <a:buFont typeface="Calibri"/>
              <a:spcAft>
                <a:spcPts val="1000"/>
              </a:spcAft>
              <a:buSzPct val="100000"/>
              <a:buChar char="•"/>
              <a:lnSpc>
                <a:spcPts val="2200"/>
              </a:lnSpc>
            </a:pPr>
            <a:r>
              <a:rPr sz="2000" b="0">
                <a:solidFill>
                  <a:srgbClr val="333333"/>
                </a:solidFill>
                <a:latin typeface="Calibri"/>
              </a:rPr>
              <a:t>So A–B has weight five: five wires connect A and B</a:t>
            </a:r>
          </a:p>
        </p:txBody>
      </p:sp>
      <p:pic>
        <p:nvPicPr>
          <p:cNvPr id="4" name="Picture 3" descr="chip-to-graph.png"/>
          <p:cNvPicPr>
            <a:picLocks noChangeAspect="1"/>
          </p:cNvPicPr>
          <p:nvPr/>
        </p:nvPicPr>
        <p:blipFill>
          <a:blip r:embed="rId2"/>
          <a:stretch>
            <a:fillRect/>
          </a:stretch>
        </p:blipFill>
        <p:spPr>
          <a:xfrm>
            <a:off x="6172200" y="1234440"/>
            <a:ext cx="3823019"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group cells?</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Cells that exchange many signals should sit close together</a:t>
            </a:r>
          </a:p>
          <a:p>
            <a:pPr lvl="0" marL="457200" indent="-228600">
              <a:buFont typeface="Calibri"/>
              <a:spcAft>
                <a:spcPts val="1000"/>
              </a:spcAft>
              <a:buSzPct val="100000"/>
              <a:buChar char="•"/>
              <a:lnSpc>
                <a:spcPts val="2200"/>
              </a:lnSpc>
            </a:pPr>
            <a:r>
              <a:rPr sz="2000" b="0">
                <a:solidFill>
                  <a:srgbClr val="333333"/>
                </a:solidFill>
                <a:latin typeface="Calibri"/>
              </a:rPr>
              <a:t>Short wires make the chip faster and save energy</a:t>
            </a:r>
          </a:p>
          <a:p>
            <a:pPr lvl="0" marL="457200" indent="-228600">
              <a:buFont typeface="Calibri"/>
              <a:spcAft>
                <a:spcPts val="1000"/>
              </a:spcAft>
              <a:buSzPct val="100000"/>
              <a:buChar char="•"/>
              <a:lnSpc>
                <a:spcPts val="2200"/>
              </a:lnSpc>
            </a:pPr>
            <a:r>
              <a:rPr sz="2000" b="0">
                <a:solidFill>
                  <a:srgbClr val="333333"/>
                </a:solidFill>
                <a:latin typeface="Calibri"/>
              </a:rPr>
              <a:t>Grouping close cells is called clustering, and each group is a cluster</a:t>
            </a:r>
          </a:p>
          <a:p>
            <a:pPr lvl="0" marL="457200" indent="-228600">
              <a:buFont typeface="Calibri"/>
              <a:spcAft>
                <a:spcPts val="1000"/>
              </a:spcAft>
              <a:buSzPct val="100000"/>
              <a:buChar char="•"/>
              <a:lnSpc>
                <a:spcPts val="2200"/>
              </a:lnSpc>
            </a:pPr>
            <a:r>
              <a:rPr sz="2000" b="0">
                <a:solidFill>
                  <a:srgbClr val="333333"/>
                </a:solidFill>
                <a:latin typeface="Calibri"/>
              </a:rPr>
              <a:t>Think of a seating plan: friends who chat a lot sit at the same table</a:t>
            </a:r>
          </a:p>
          <a:p>
            <a:pPr lvl="0" marL="457200" indent="-228600">
              <a:buFont typeface="Calibri"/>
              <a:spcAft>
                <a:spcPts val="1000"/>
              </a:spcAft>
              <a:buSzPct val="100000"/>
              <a:buChar char="•"/>
              <a:lnSpc>
                <a:spcPts val="2200"/>
              </a:lnSpc>
            </a:pPr>
            <a:r>
              <a:rPr sz="2000" b="0">
                <a:solidFill>
                  <a:srgbClr val="333333"/>
                </a:solidFill>
                <a:latin typeface="Calibri"/>
              </a:rPr>
              <a:t>Here, A, B and C form one group, and D and E form another</a:t>
            </a:r>
          </a:p>
          <a:p>
            <a:pPr lvl="0" marL="457200" indent="-228600">
              <a:buFont typeface="Calibri"/>
              <a:spcAft>
                <a:spcPts val="1000"/>
              </a:spcAft>
              <a:buSzPct val="100000"/>
              <a:buChar char="•"/>
              <a:lnSpc>
                <a:spcPts val="2200"/>
              </a:lnSpc>
            </a:pPr>
            <a:r>
              <a:rPr sz="2000" b="0">
                <a:solidFill>
                  <a:srgbClr val="333333"/>
                </a:solidFill>
                <a:latin typeface="Calibri"/>
              </a:rPr>
              <a:t>Only the red edges cross between the groups, and we want as few of those as possible</a:t>
            </a:r>
          </a:p>
        </p:txBody>
      </p:sp>
      <p:pic>
        <p:nvPicPr>
          <p:cNvPr id="4" name="Picture 3" descr="clustering-groups.png"/>
          <p:cNvPicPr>
            <a:picLocks noChangeAspect="1"/>
          </p:cNvPicPr>
          <p:nvPr/>
        </p:nvPicPr>
        <p:blipFill>
          <a:blip r:embed="rId2"/>
          <a:stretch>
            <a:fillRect/>
          </a:stretch>
        </p:blipFill>
        <p:spPr>
          <a:xfrm>
            <a:off x="6172200" y="1470755"/>
            <a:ext cx="5394960" cy="428225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affinity?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Affinity is a score for each pair of cells</a:t>
            </a:r>
          </a:p>
          <a:p>
            <a:pPr lvl="0" marL="457200" indent="-228600">
              <a:buFont typeface="Calibri"/>
              <a:spcAft>
                <a:spcPts val="1000"/>
              </a:spcAft>
              <a:buSzPct val="100000"/>
              <a:buChar char="•"/>
              <a:lnSpc>
                <a:spcPts val="2200"/>
              </a:lnSpc>
            </a:pPr>
            <a:r>
              <a:rPr sz="2000" b="0">
                <a:solidFill>
                  <a:srgbClr val="333333"/>
                </a:solidFill>
                <a:latin typeface="Calibri"/>
              </a:rPr>
              <a:t>A high score means these two should be in the same group</a:t>
            </a:r>
          </a:p>
          <a:p>
            <a:pPr lvl="0" marL="457200" indent="-228600">
              <a:buFont typeface="Calibri"/>
              <a:spcAft>
                <a:spcPts val="1000"/>
              </a:spcAft>
              <a:buSzPct val="100000"/>
              <a:buChar char="•"/>
              <a:lnSpc>
                <a:spcPts val="2200"/>
              </a:lnSpc>
            </a:pPr>
            <a:r>
              <a:rPr sz="2000" b="0">
                <a:solidFill>
                  <a:srgbClr val="333333"/>
                </a:solidFill>
                <a:latin typeface="Calibri"/>
              </a:rPr>
              <a:t>A low score means they can be apart</a:t>
            </a:r>
          </a:p>
          <a:p>
            <a:pPr lvl="0" marL="457200" indent="-228600">
              <a:buFont typeface="Calibri"/>
              <a:spcAft>
                <a:spcPts val="1000"/>
              </a:spcAft>
              <a:buSzPct val="100000"/>
              <a:buChar char="•"/>
              <a:lnSpc>
                <a:spcPts val="2200"/>
              </a:lnSpc>
            </a:pPr>
            <a:r>
              <a:rPr sz="2000" b="0">
                <a:solidFill>
                  <a:srgbClr val="333333"/>
                </a:solidFill>
                <a:latin typeface="Calibri"/>
              </a:rPr>
              <a:t>Clustering algorithms merge the pair with the highest score first</a:t>
            </a:r>
          </a:p>
          <a:p>
            <a:pPr lvl="0" marL="457200" indent="-228600">
              <a:buFont typeface="Calibri"/>
              <a:spcAft>
                <a:spcPts val="1000"/>
              </a:spcAft>
              <a:buSzPct val="100000"/>
              <a:buChar char="•"/>
              <a:lnSpc>
                <a:spcPts val="2200"/>
              </a:lnSpc>
            </a:pPr>
            <a:r>
              <a:rPr sz="2000" b="0">
                <a:solidFill>
                  <a:srgbClr val="333333"/>
                </a:solidFill>
                <a:latin typeface="Calibri"/>
              </a:rPr>
              <a:t>So the recipe for the score decides everything that follows</a:t>
            </a:r>
          </a:p>
          <a:p>
            <a:pPr lvl="0" marL="457200" indent="-228600">
              <a:buFont typeface="Calibri"/>
              <a:spcAft>
                <a:spcPts val="1000"/>
              </a:spcAft>
              <a:buSzPct val="100000"/>
              <a:buChar char="•"/>
              <a:lnSpc>
                <a:spcPts val="2200"/>
              </a:lnSpc>
            </a:pPr>
            <a:r>
              <a:rPr sz="2000" b="0">
                <a:solidFill>
                  <a:srgbClr val="333333"/>
                </a:solidFill>
                <a:latin typeface="Calibri"/>
              </a:rPr>
              <a:t>This lab compares three recipes on the same small example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with a tiny weighted graph</a:t>
            </a:r>
          </a:p>
        </p:txBody>
      </p:sp>
      <p:pic>
        <p:nvPicPr>
          <p:cNvPr id="3" name="Picture 2" descr="01-raw-graph.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with a tiny weighted graph</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Edge-weight affinity ranks pairs</a:t>
            </a:r>
          </a:p>
        </p:txBody>
      </p:sp>
      <p:pic>
        <p:nvPicPr>
          <p:cNvPr id="3" name="Picture 2" descr="02-edge-rank.png"/>
          <p:cNvPicPr>
            <a:picLocks noChangeAspect="1"/>
          </p:cNvPicPr>
          <p:nvPr/>
        </p:nvPicPr>
        <p:blipFill>
          <a:blip r:embed="rId2"/>
          <a:stretch>
            <a:fillRect/>
          </a:stretch>
        </p:blipFill>
        <p:spPr>
          <a:xfrm>
            <a:off x="548640" y="1143000"/>
            <a:ext cx="862987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Edge-weight affinity ranks pairs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neighbors boost A–B</a:t>
            </a:r>
          </a:p>
        </p:txBody>
      </p:sp>
      <p:pic>
        <p:nvPicPr>
          <p:cNvPr id="3" name="Picture 2" descr="03-shared-id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Shared neighbors boost A–B</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ranking reshuffles the list</a:t>
            </a:r>
          </a:p>
        </p:txBody>
      </p:sp>
      <p:pic>
        <p:nvPicPr>
          <p:cNvPr id="3" name="Picture 2" descr="04-shared-rank.png"/>
          <p:cNvPicPr>
            <a:picLocks noChangeAspect="1"/>
          </p:cNvPicPr>
          <p:nvPr/>
        </p:nvPicPr>
        <p:blipFill>
          <a:blip r:embed="rId2"/>
          <a:stretch>
            <a:fillRect/>
          </a:stretch>
        </p:blipFill>
        <p:spPr>
          <a:xfrm>
            <a:off x="548640" y="1143000"/>
            <a:ext cx="862987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Shared ranking reshuffles the list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affinity matters in EDA</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Why affinity matters in EDA</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Worked example: the score of A–C</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Let's compute one score together, step by step</a:t>
            </a:r>
          </a:p>
          <a:p>
            <a:pPr lvl="0" marL="457200" indent="-228600">
              <a:buFont typeface="Calibri"/>
              <a:spcAft>
                <a:spcPts val="1000"/>
              </a:spcAft>
              <a:buSzPct val="100000"/>
              <a:buChar char="•"/>
              <a:lnSpc>
                <a:spcPts val="2200"/>
              </a:lnSpc>
            </a:pPr>
            <a:r>
              <a:rPr sz="2000" b="0">
                <a:solidFill>
                  <a:srgbClr val="333333"/>
                </a:solidFill>
                <a:latin typeface="Calibri"/>
              </a:rPr>
              <a:t>Step one: the direct edge A–C has weight one</a:t>
            </a:r>
          </a:p>
          <a:p>
            <a:pPr lvl="0" marL="457200" indent="-228600">
              <a:buFont typeface="Calibri"/>
              <a:spcAft>
                <a:spcPts val="1000"/>
              </a:spcAft>
              <a:buSzPct val="100000"/>
              <a:buChar char="•"/>
              <a:lnSpc>
                <a:spcPts val="2200"/>
              </a:lnSpc>
            </a:pPr>
            <a:r>
              <a:rPr sz="2000" b="0">
                <a:solidFill>
                  <a:srgbClr val="333333"/>
                </a:solidFill>
                <a:latin typeface="Calibri"/>
              </a:rPr>
              <a:t>Step two: A and C have one neighbor in common, B</a:t>
            </a:r>
          </a:p>
          <a:p>
            <a:pPr lvl="0" marL="457200" indent="-228600">
              <a:buFont typeface="Calibri"/>
              <a:spcAft>
                <a:spcPts val="1000"/>
              </a:spcAft>
              <a:buSzPct val="100000"/>
              <a:buChar char="•"/>
              <a:lnSpc>
                <a:spcPts val="2200"/>
              </a:lnSpc>
            </a:pPr>
            <a:r>
              <a:rPr sz="2000" b="0">
                <a:solidFill>
                  <a:srgbClr val="333333"/>
                </a:solidFill>
                <a:latin typeface="Calibri"/>
              </a:rPr>
              <a:t>The links through B weigh five and four, so we keep the smaller one: four</a:t>
            </a:r>
          </a:p>
          <a:p>
            <a:pPr lvl="0" marL="457200" indent="-228600">
              <a:buFont typeface="Calibri"/>
              <a:spcAft>
                <a:spcPts val="1000"/>
              </a:spcAft>
              <a:buSzPct val="100000"/>
              <a:buChar char="•"/>
              <a:lnSpc>
                <a:spcPts val="2200"/>
              </a:lnSpc>
            </a:pPr>
            <a:r>
              <a:rPr sz="2000" b="0">
                <a:solidFill>
                  <a:srgbClr val="333333"/>
                </a:solidFill>
                <a:latin typeface="Calibri"/>
              </a:rPr>
              <a:t>Step three: add them up, one plus four makes five</a:t>
            </a:r>
          </a:p>
          <a:p>
            <a:pPr lvl="0" marL="457200" indent="-228600">
              <a:buFont typeface="Calibri"/>
              <a:spcAft>
                <a:spcPts val="1000"/>
              </a:spcAft>
              <a:buSzPct val="100000"/>
              <a:buChar char="•"/>
              <a:lnSpc>
                <a:spcPts val="2200"/>
              </a:lnSpc>
            </a:pPr>
            <a:r>
              <a:rPr sz="2000" b="0">
                <a:solidFill>
                  <a:srgbClr val="333333"/>
                </a:solidFill>
                <a:latin typeface="Calibri"/>
              </a:rPr>
              <a:t>A–C was weak alone, but becomes strong once its shared friend counts</a:t>
            </a:r>
          </a:p>
        </p:txBody>
      </p:sp>
      <p:pic>
        <p:nvPicPr>
          <p:cNvPr id="4" name="Picture 3" descr="worked-ac.png"/>
          <p:cNvPicPr>
            <a:picLocks noChangeAspect="1"/>
          </p:cNvPicPr>
          <p:nvPr/>
        </p:nvPicPr>
        <p:blipFill>
          <a:blip r:embed="rId2"/>
          <a:stretch>
            <a:fillRect/>
          </a:stretch>
        </p:blipFill>
        <p:spPr>
          <a:xfrm>
            <a:off x="6172200" y="1234440"/>
            <a:ext cx="5131742"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Ten pairs, not six</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With recipe two, our small graph gives ten pairs instead of six</a:t>
            </a:r>
          </a:p>
          <a:p>
            <a:pPr lvl="0" marL="457200" indent="-228600">
              <a:buFont typeface="Calibri"/>
              <a:spcAft>
                <a:spcPts val="1000"/>
              </a:spcAft>
              <a:buSzPct val="100000"/>
              <a:buChar char="•"/>
              <a:lnSpc>
                <a:spcPts val="2200"/>
              </a:lnSpc>
            </a:pPr>
            <a:r>
              <a:rPr sz="2000" b="0">
                <a:solidFill>
                  <a:srgbClr val="333333"/>
                </a:solidFill>
                <a:latin typeface="Calibri"/>
              </a:rPr>
              <a:t>Four of them have no wire at all between them</a:t>
            </a:r>
          </a:p>
          <a:p>
            <a:pPr lvl="0" marL="457200" indent="-228600">
              <a:buFont typeface="Calibri"/>
              <a:spcAft>
                <a:spcPts val="1000"/>
              </a:spcAft>
              <a:buSzPct val="100000"/>
              <a:buChar char="•"/>
              <a:lnSpc>
                <a:spcPts val="2200"/>
              </a:lnSpc>
            </a:pPr>
            <a:r>
              <a:rPr sz="2000" b="0">
                <a:solidFill>
                  <a:srgbClr val="333333"/>
                </a:solidFill>
                <a:latin typeface="Calibri"/>
              </a:rPr>
              <a:t>For example, B and D are not wired together, but both are wired to C</a:t>
            </a:r>
          </a:p>
          <a:p>
            <a:pPr lvl="0" marL="457200" indent="-228600">
              <a:buFont typeface="Calibri"/>
              <a:spcAft>
                <a:spcPts val="1000"/>
              </a:spcAft>
              <a:buSzPct val="100000"/>
              <a:buChar char="•"/>
              <a:lnSpc>
                <a:spcPts val="2200"/>
              </a:lnSpc>
            </a:pPr>
            <a:r>
              <a:rPr sz="2000" b="0">
                <a:solidFill>
                  <a:srgbClr val="333333"/>
                </a:solidFill>
                <a:latin typeface="Calibri"/>
              </a:rPr>
              <a:t>So B–D gets the weaker of those two links: two</a:t>
            </a:r>
          </a:p>
          <a:p>
            <a:pPr lvl="0" marL="457200" indent="-228600">
              <a:buFont typeface="Calibri"/>
              <a:spcAft>
                <a:spcPts val="1000"/>
              </a:spcAft>
              <a:buSzPct val="100000"/>
              <a:buChar char="•"/>
              <a:lnSpc>
                <a:spcPts val="2200"/>
              </a:lnSpc>
            </a:pPr>
            <a:r>
              <a:rPr sz="2000" b="0">
                <a:solidFill>
                  <a:srgbClr val="333333"/>
                </a:solidFill>
                <a:latin typeface="Calibri"/>
              </a:rPr>
              <a:t>It's like two people who have never met but share a best friend</a:t>
            </a:r>
          </a:p>
          <a:p>
            <a:pPr lvl="0" marL="457200" indent="-228600">
              <a:buFont typeface="Calibri"/>
              <a:spcAft>
                <a:spcPts val="1000"/>
              </a:spcAft>
              <a:buSzPct val="100000"/>
              <a:buChar char="•"/>
              <a:lnSpc>
                <a:spcPts val="2200"/>
              </a:lnSpc>
            </a:pPr>
            <a:r>
              <a:rPr sz="2000" b="0">
                <a:solidFill>
                  <a:srgbClr val="333333"/>
                </a:solidFill>
                <a:latin typeface="Calibri"/>
              </a:rPr>
              <a:t>Only pairs whose score would be zero are left out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Recipe two as 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Here is recipe two written as steps a computer can follow</a:t>
            </a:r>
          </a:p>
          <a:p>
            <a:pPr lvl="0" marL="457200" indent="-228600">
              <a:buFont typeface="Calibri"/>
              <a:spcAft>
                <a:spcPts val="1000"/>
              </a:spcAft>
              <a:buSzPct val="100000"/>
              <a:buChar char="•"/>
              <a:lnSpc>
                <a:spcPts val="2200"/>
              </a:lnSpc>
            </a:pPr>
            <a:r>
              <a:rPr sz="2000" b="0">
                <a:solidFill>
                  <a:srgbClr val="333333"/>
                </a:solidFill>
                <a:latin typeface="Calibri"/>
              </a:rPr>
              <a:t>First, every edge adds its weight to its own pair</a:t>
            </a:r>
          </a:p>
          <a:p>
            <a:pPr lvl="0" marL="457200" indent="-228600">
              <a:buFont typeface="Calibri"/>
              <a:spcAft>
                <a:spcPts val="1000"/>
              </a:spcAft>
              <a:buSzPct val="100000"/>
              <a:buChar char="•"/>
              <a:lnSpc>
                <a:spcPts val="2200"/>
              </a:lnSpc>
            </a:pPr>
            <a:r>
              <a:rPr sz="2000" b="0">
                <a:solidFill>
                  <a:srgbClr val="333333"/>
                </a:solidFill>
                <a:latin typeface="Calibri"/>
              </a:rPr>
              <a:t>Next, for every pair of nodes, look at each neighbor they have in common</a:t>
            </a:r>
          </a:p>
          <a:p>
            <a:pPr lvl="0" marL="457200" indent="-228600">
              <a:buFont typeface="Calibri"/>
              <a:spcAft>
                <a:spcPts val="1000"/>
              </a:spcAft>
              <a:buSzPct val="100000"/>
              <a:buChar char="•"/>
              <a:lnSpc>
                <a:spcPts val="2200"/>
              </a:lnSpc>
            </a:pPr>
            <a:r>
              <a:rPr sz="2000" b="0">
                <a:solidFill>
                  <a:srgbClr val="333333"/>
                </a:solidFill>
                <a:latin typeface="Calibri"/>
              </a:rPr>
              <a:t>For each shared neighbor, add the smaller of its two links to the pair</a:t>
            </a:r>
          </a:p>
          <a:p>
            <a:pPr lvl="0" marL="457200" indent="-228600">
              <a:buFont typeface="Calibri"/>
              <a:spcAft>
                <a:spcPts val="1000"/>
              </a:spcAft>
              <a:buSzPct val="100000"/>
              <a:buChar char="•"/>
              <a:lnSpc>
                <a:spcPts val="2200"/>
              </a:lnSpc>
            </a:pPr>
            <a:r>
              <a:rPr sz="2000" b="0">
                <a:solidFill>
                  <a:srgbClr val="333333"/>
                </a:solidFill>
                <a:latin typeface="Calibri"/>
              </a:rPr>
              <a:t>Keep every pair whose score ends up above zero</a:t>
            </a:r>
          </a:p>
          <a:p>
            <a:pPr lvl="0" marL="457200" indent="-228600">
              <a:buFont typeface="Calibri"/>
              <a:spcAft>
                <a:spcPts val="1000"/>
              </a:spcAft>
              <a:buSzPct val="100000"/>
              <a:buChar char="•"/>
              <a:lnSpc>
                <a:spcPts val="2200"/>
              </a:lnSpc>
            </a:pPr>
            <a:r>
              <a:rPr sz="2000" b="0">
                <a:solidFill>
                  <a:srgbClr val="333333"/>
                </a:solidFill>
                <a:latin typeface="Calibri"/>
              </a:rPr>
              <a:t>Finally, sort from highest to lowest score, and break ties alphabetically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Recipe two as pseudocode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affinity_shared_neighbors(nodes, edges):</a:t>
            </a:r>
          </a:p>
          <a:p>
            <a:pPr>
              <a:lnSpc>
                <a:spcPts val="2200"/>
              </a:lnSpc>
              <a:spcAft>
                <a:spcPts val="400"/>
              </a:spcAft>
            </a:pPr>
            <a:r>
              <a:rPr sz="2000" b="0">
                <a:solidFill>
                  <a:srgbClr val="333333"/>
                </a:solidFill>
                <a:latin typeface="Consolas"/>
              </a:rPr>
              <a:t>  score[u,v] = w(u,v) for every edge</a:t>
            </a:r>
          </a:p>
          <a:p>
            <a:pPr>
              <a:lnSpc>
                <a:spcPts val="2200"/>
              </a:lnSpc>
              <a:spcAft>
                <a:spcPts val="400"/>
              </a:spcAft>
            </a:pPr>
            <a:r>
              <a:rPr sz="2000" b="0">
                <a:solidFill>
                  <a:srgbClr val="333333"/>
                </a:solidFill>
                <a:latin typeface="Consolas"/>
              </a:rPr>
              <a:t>  for every pair (u, v) of nodes:</a:t>
            </a:r>
          </a:p>
          <a:p>
            <a:pPr>
              <a:lnSpc>
                <a:spcPts val="2200"/>
              </a:lnSpc>
              <a:spcAft>
                <a:spcPts val="400"/>
              </a:spcAft>
            </a:pPr>
            <a:r>
              <a:rPr sz="2000" b="0">
                <a:solidFill>
                  <a:srgbClr val="333333"/>
                </a:solidFill>
                <a:latin typeface="Consolas"/>
              </a:rPr>
              <a:t>    s = 0</a:t>
            </a:r>
          </a:p>
          <a:p>
            <a:pPr>
              <a:lnSpc>
                <a:spcPts val="2200"/>
              </a:lnSpc>
              <a:spcAft>
                <a:spcPts val="400"/>
              </a:spcAft>
            </a:pPr>
            <a:r>
              <a:rPr sz="2000" b="0">
                <a:solidFill>
                  <a:srgbClr val="333333"/>
                </a:solidFill>
                <a:latin typeface="Consolas"/>
              </a:rPr>
              <a:t>    for x in neighbors(u), x != v:</a:t>
            </a:r>
          </a:p>
          <a:p>
            <a:pPr>
              <a:lnSpc>
                <a:spcPts val="2200"/>
              </a:lnSpc>
              <a:spcAft>
                <a:spcPts val="400"/>
              </a:spcAft>
            </a:pPr>
            <a:r>
              <a:rPr sz="2000" b="0">
                <a:solidFill>
                  <a:srgbClr val="333333"/>
                </a:solidFill>
                <a:latin typeface="Consolas"/>
              </a:rPr>
              <a:t>      if x in neighbors(v):</a:t>
            </a:r>
          </a:p>
          <a:p>
            <a:pPr>
              <a:lnSpc>
                <a:spcPts val="2200"/>
              </a:lnSpc>
              <a:spcAft>
                <a:spcPts val="400"/>
              </a:spcAft>
            </a:pPr>
            <a:r>
              <a:rPr sz="2000" b="0">
                <a:solidFill>
                  <a:srgbClr val="333333"/>
                </a:solidFill>
                <a:latin typeface="Consolas"/>
              </a:rPr>
              <a:t>        s += min(w(u,x), w(v,x))</a:t>
            </a:r>
          </a:p>
          <a:p>
            <a:pPr>
              <a:lnSpc>
                <a:spcPts val="2200"/>
              </a:lnSpc>
              <a:spcAft>
                <a:spcPts val="400"/>
              </a:spcAft>
            </a:pPr>
            <a:r>
              <a:rPr sz="2000" b="0">
                <a:solidFill>
                  <a:srgbClr val="333333"/>
                </a:solidFill>
                <a:latin typeface="Consolas"/>
              </a:rPr>
              <a:t>    if s &gt; 0 or (u,v) has an edge:</a:t>
            </a:r>
          </a:p>
          <a:p>
            <a:pPr>
              <a:lnSpc>
                <a:spcPts val="2200"/>
              </a:lnSpc>
              <a:spcAft>
                <a:spcPts val="400"/>
              </a:spcAft>
            </a:pPr>
            <a:r>
              <a:rPr sz="2000" b="0">
                <a:solidFill>
                  <a:srgbClr val="333333"/>
                </a:solidFill>
                <a:latin typeface="Consolas"/>
              </a:rPr>
              <a:t>      score[u,v] += s</a:t>
            </a:r>
          </a:p>
          <a:p>
            <a:pPr>
              <a:lnSpc>
                <a:spcPts val="2200"/>
              </a:lnSpc>
              <a:spcAft>
                <a:spcPts val="400"/>
              </a:spcAft>
            </a:pPr>
            <a:r>
              <a:rPr sz="2000" b="0">
                <a:solidFill>
                  <a:srgbClr val="333333"/>
                </a:solidFill>
                <a:latin typeface="Consolas"/>
              </a:rPr>
              <a:t>  sort by score (high first), then u, then v</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graph, different first merge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Here's a second example that shows why the recipe matters</a:t>
            </a:r>
          </a:p>
          <a:p>
            <a:pPr lvl="0" marL="457200" indent="-228600">
              <a:buFont typeface="Calibri"/>
              <a:spcAft>
                <a:spcPts val="1000"/>
              </a:spcAft>
              <a:buSzPct val="100000"/>
              <a:buChar char="•"/>
              <a:lnSpc>
                <a:spcPts val="2200"/>
              </a:lnSpc>
            </a:pPr>
            <a:r>
              <a:rPr sz="2000" b="0">
                <a:solidFill>
                  <a:srgbClr val="333333"/>
                </a:solidFill>
                <a:latin typeface="Calibri"/>
              </a:rPr>
              <a:t>Take a tight triangle P, Q, R, with every edge at weight four</a:t>
            </a:r>
          </a:p>
          <a:p>
            <a:pPr lvl="0" marL="457200" indent="-228600">
              <a:buFont typeface="Calibri"/>
              <a:spcAft>
                <a:spcPts val="1000"/>
              </a:spcAft>
              <a:buSzPct val="100000"/>
              <a:buChar char="•"/>
              <a:lnSpc>
                <a:spcPts val="2200"/>
              </a:lnSpc>
            </a:pPr>
            <a:r>
              <a:rPr sz="2000" b="0">
                <a:solidFill>
                  <a:srgbClr val="333333"/>
                </a:solidFill>
                <a:latin typeface="Calibri"/>
              </a:rPr>
              <a:t>Next to it, a lone pair X–Y has weight five</a:t>
            </a:r>
          </a:p>
          <a:p>
            <a:pPr lvl="0" marL="457200" indent="-228600">
              <a:buFont typeface="Calibri"/>
              <a:spcAft>
                <a:spcPts val="1000"/>
              </a:spcAft>
              <a:buSzPct val="100000"/>
              <a:buChar char="•"/>
              <a:lnSpc>
                <a:spcPts val="2200"/>
              </a:lnSpc>
            </a:pPr>
            <a:r>
              <a:rPr sz="2000" b="0">
                <a:solidFill>
                  <a:srgbClr val="333333"/>
                </a:solidFill>
                <a:latin typeface="Calibri"/>
              </a:rPr>
              <a:t>Recipe one picks X–Y first, because five beats four</a:t>
            </a:r>
          </a:p>
          <a:p>
            <a:pPr lvl="0" marL="457200" indent="-228600">
              <a:buFont typeface="Calibri"/>
              <a:spcAft>
                <a:spcPts val="1000"/>
              </a:spcAft>
              <a:buSzPct val="100000"/>
              <a:buChar char="•"/>
              <a:lnSpc>
                <a:spcPts val="2200"/>
              </a:lnSpc>
            </a:pPr>
            <a:r>
              <a:rPr sz="2000" b="0">
                <a:solidFill>
                  <a:srgbClr val="333333"/>
                </a:solidFill>
                <a:latin typeface="Calibri"/>
              </a:rPr>
              <a:t>Recipe two gives P–Q four, plus four through R: eight, so P–Q goes first</a:t>
            </a:r>
          </a:p>
          <a:p>
            <a:pPr lvl="0" marL="457200" indent="-228600">
              <a:buFont typeface="Calibri"/>
              <a:spcAft>
                <a:spcPts val="1000"/>
              </a:spcAft>
              <a:buSzPct val="100000"/>
              <a:buChar char="•"/>
              <a:lnSpc>
                <a:spcPts val="2200"/>
              </a:lnSpc>
            </a:pPr>
            <a:r>
              <a:rPr sz="2000" b="0">
                <a:solidFill>
                  <a:srgbClr val="333333"/>
                </a:solidFill>
                <a:latin typeface="Calibri"/>
              </a:rPr>
              <a:t>Same graph, same merge rule, but a different first merge</a:t>
            </a:r>
          </a:p>
        </p:txBody>
      </p:sp>
      <p:pic>
        <p:nvPicPr>
          <p:cNvPr id="4" name="Picture 3" descr="priority-graph.png"/>
          <p:cNvPicPr>
            <a:picLocks noChangeAspect="1"/>
          </p:cNvPicPr>
          <p:nvPr/>
        </p:nvPicPr>
        <p:blipFill>
          <a:blip r:embed="rId2"/>
          <a:stretch>
            <a:fillRect/>
          </a:stretch>
        </p:blipFill>
        <p:spPr>
          <a:xfrm>
            <a:off x="6172200" y="1234440"/>
            <a:ext cx="3548417"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Nets with many pins</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a real chip, one wire can connect many cells at once</a:t>
            </a:r>
          </a:p>
          <a:p>
            <a:pPr lvl="0" marL="457200" indent="-228600">
              <a:buFont typeface="Calibri"/>
              <a:spcAft>
                <a:spcPts val="1000"/>
              </a:spcAft>
              <a:buSzPct val="100000"/>
              <a:buChar char="•"/>
              <a:lnSpc>
                <a:spcPts val="2200"/>
              </a:lnSpc>
            </a:pPr>
            <a:r>
              <a:rPr sz="2000" b="0">
                <a:solidFill>
                  <a:srgbClr val="333333"/>
                </a:solidFill>
                <a:latin typeface="Calibri"/>
              </a:rPr>
              <a:t>Such a shared wire is called a net, and each cell it touches is a pin</a:t>
            </a:r>
          </a:p>
          <a:p>
            <a:pPr lvl="0" marL="457200" indent="-228600">
              <a:buFont typeface="Calibri"/>
              <a:spcAft>
                <a:spcPts val="1000"/>
              </a:spcAft>
              <a:buSzPct val="100000"/>
              <a:buChar char="•"/>
              <a:lnSpc>
                <a:spcPts val="2200"/>
              </a:lnSpc>
            </a:pPr>
            <a:r>
              <a:rPr sz="2000" b="0">
                <a:solidFill>
                  <a:srgbClr val="333333"/>
                </a:solidFill>
                <a:latin typeface="Calibri"/>
              </a:rPr>
              <a:t>Think of a group chat with fifty people: it says little about who is friends</a:t>
            </a:r>
          </a:p>
          <a:p>
            <a:pPr lvl="0" marL="457200" indent="-228600">
              <a:buFont typeface="Calibri"/>
              <a:spcAft>
                <a:spcPts val="1000"/>
              </a:spcAft>
              <a:buSzPct val="100000"/>
              <a:buChar char="•"/>
              <a:lnSpc>
                <a:spcPts val="2200"/>
              </a:lnSpc>
            </a:pPr>
            <a:r>
              <a:rPr sz="2000" b="0">
                <a:solidFill>
                  <a:srgbClr val="333333"/>
                </a:solidFill>
                <a:latin typeface="Calibri"/>
              </a:rPr>
              <a:t>A private message between two people says much more</a:t>
            </a:r>
          </a:p>
          <a:p>
            <a:pPr lvl="0" marL="457200" indent="-228600">
              <a:buFont typeface="Calibri"/>
              <a:spcAft>
                <a:spcPts val="1000"/>
              </a:spcAft>
              <a:buSzPct val="100000"/>
              <a:buChar char="•"/>
              <a:lnSpc>
                <a:spcPts val="2200"/>
              </a:lnSpc>
            </a:pPr>
            <a:r>
              <a:rPr sz="2000" b="0">
                <a:solidFill>
                  <a:srgbClr val="333333"/>
                </a:solidFill>
                <a:latin typeface="Calibri"/>
              </a:rPr>
              <a:t>Recipe three works the same way: each net shares its weight among its pins</a:t>
            </a:r>
          </a:p>
          <a:p>
            <a:pPr lvl="0" marL="457200" indent="-228600">
              <a:buFont typeface="Calibri"/>
              <a:spcAft>
                <a:spcPts val="1000"/>
              </a:spcAft>
              <a:buSzPct val="100000"/>
              <a:buChar char="•"/>
              <a:lnSpc>
                <a:spcPts val="2200"/>
              </a:lnSpc>
            </a:pPr>
            <a:r>
              <a:rPr sz="2000" b="0">
                <a:solidFill>
                  <a:srgbClr val="333333"/>
                </a:solidFill>
                <a:latin typeface="Calibri"/>
              </a:rPr>
              <a:t>The rule is the weight divided by the number of pins, minus one</a:t>
            </a:r>
          </a:p>
        </p:txBody>
      </p:sp>
      <p:pic>
        <p:nvPicPr>
          <p:cNvPr id="4" name="Picture 3" descr="wide-nets.png"/>
          <p:cNvPicPr>
            <a:picLocks noChangeAspect="1"/>
          </p:cNvPicPr>
          <p:nvPr/>
        </p:nvPicPr>
        <p:blipFill>
          <a:blip r:embed="rId2"/>
          <a:stretch>
            <a:fillRect/>
          </a:stretch>
        </p:blipFill>
        <p:spPr>
          <a:xfrm>
            <a:off x="6172200" y="1234440"/>
            <a:ext cx="4256116"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Nets with many pins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tiny netlist: en {A,B,C,D,E}, rst {A,B,C,D,E}, n1 {E,F}</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raw net count     pin-count w/(|e|-1)</a:t>
            </a:r>
          </a:p>
          <a:p>
            <a:pPr>
              <a:lnSpc>
                <a:spcPts val="2200"/>
              </a:lnSpc>
              <a:spcAft>
                <a:spcPts val="400"/>
              </a:spcAft>
            </a:pPr>
            <a:r>
              <a:rPr sz="2000" b="0">
                <a:solidFill>
                  <a:srgbClr val="333333"/>
                </a:solidFill>
                <a:latin typeface="Consolas"/>
              </a:rPr>
              <a:t>A-B        1 + 1 = 2         1/4 + 1/4 = 0.5</a:t>
            </a:r>
          </a:p>
          <a:p>
            <a:pPr>
              <a:lnSpc>
                <a:spcPts val="2200"/>
              </a:lnSpc>
              <a:spcAft>
                <a:spcPts val="400"/>
              </a:spcAft>
            </a:pPr>
            <a:r>
              <a:rPr sz="2000" b="0">
                <a:solidFill>
                  <a:srgbClr val="333333"/>
                </a:solidFill>
                <a:latin typeface="Consolas"/>
              </a:rPr>
              <a:t>E-F        1                 1/1 = 1.0</a:t>
            </a:r>
          </a:p>
          <a:p>
            <a:pPr>
              <a:lnSpc>
                <a:spcPts val="2200"/>
              </a:lnSpc>
              <a:spcAft>
                <a:spcPts val="400"/>
              </a:spcAft>
            </a:pPr>
            <a:r>
              <a:rPr sz="2000" b="0">
                <a:solidFill>
                  <a:srgbClr val="333333"/>
                </a:solidFill>
                <a:latin typeface="Consolas"/>
              </a:rPr>
              <a:t>first      A-B               E-F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pic>
        <p:nvPicPr>
          <p:cNvPr id="3" name="Picture 2" descr="lab-starter.png"/>
          <p:cNvPicPr>
            <a:picLocks noChangeAspect="1"/>
          </p:cNvPicPr>
          <p:nvPr/>
        </p:nvPicPr>
        <p:blipFill>
          <a:blip r:embed="rId2"/>
          <a:stretch>
            <a:fillRect/>
          </a:stretch>
        </p:blipFill>
        <p:spPr>
          <a:xfrm>
            <a:off x="548640" y="1143000"/>
            <a:ext cx="6854354"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Browser lab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pic>
        <p:nvPicPr>
          <p:cNvPr id="3" name="Picture 2" descr="real-shell.png"/>
          <p:cNvPicPr>
            <a:picLocks noChangeAspect="1"/>
          </p:cNvPicPr>
          <p:nvPr/>
        </p:nvPicPr>
        <p:blipFill>
          <a:blip r:embed="rId2"/>
          <a:stretch>
            <a:fillRect/>
          </a:stretch>
        </p:blipFill>
        <p:spPr>
          <a:xfrm>
            <a:off x="548640" y="1143000"/>
            <a:ext cx="9160625"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Real shell session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 point Python at the shared helpers</a:t>
            </a:r>
          </a:p>
          <a:p>
            <a:pPr>
              <a:lnSpc>
                <a:spcPts val="2200"/>
              </a:lnSpc>
              <a:spcAft>
                <a:spcPts val="400"/>
              </a:spcAft>
            </a:pPr>
            <a:r>
              <a:rPr sz="2000" b="0">
                <a:solidFill>
                  <a:srgbClr val="333333"/>
                </a:solidFill>
                <a:latin typeface="Consolas"/>
              </a:rPr>
              <a:t>export PYTHONPATH=../common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both graph rankings, starter graph then priority graph</a:t>
            </a:r>
          </a:p>
          <a:p>
            <a:pPr>
              <a:lnSpc>
                <a:spcPts val="2200"/>
              </a:lnSpc>
              <a:spcAft>
                <a:spcPts val="400"/>
              </a:spcAft>
            </a:pPr>
            <a:r>
              <a:rPr sz="2000" b="0">
                <a:solidFill>
                  <a:srgbClr val="333333"/>
                </a:solidFill>
                <a:latin typeface="Consolas"/>
              </a:rPr>
              <a:t>python3 ../common/solvers.py examples/tiny_graph.json --mode</a:t>
            </a:r>
          </a:p>
          <a:p>
            <a:pPr>
              <a:lnSpc>
                <a:spcPts val="2200"/>
              </a:lnSpc>
              <a:spcAft>
                <a:spcPts val="400"/>
              </a:spcAft>
            </a:pPr>
            <a:r>
              <a:rPr sz="2000" b="0">
                <a:solidFill>
                  <a:srgbClr val="333333"/>
                </a:solidFill>
                <a:latin typeface="Consolas"/>
              </a:rPr>
              <a:t>affinity</a:t>
            </a:r>
          </a:p>
          <a:p>
            <a:pPr>
              <a:lnSpc>
                <a:spcPts val="2200"/>
              </a:lnSpc>
              <a:spcAft>
                <a:spcPts val="400"/>
              </a:spcAft>
            </a:pPr>
            <a:r>
              <a:rPr sz="2000" b="0">
                <a:solidFill>
                  <a:srgbClr val="333333"/>
                </a:solidFill>
                <a:latin typeface="Consolas"/>
              </a:rPr>
              <a:t>python3 ../common/solvers.py examples/priority_graph.json --mode</a:t>
            </a:r>
          </a:p>
          <a:p>
            <a:pPr>
              <a:lnSpc>
                <a:spcPts val="2200"/>
              </a:lnSpc>
              <a:spcAft>
                <a:spcPts val="400"/>
              </a:spcAft>
            </a:pPr>
            <a:r>
              <a:rPr sz="2000" b="0">
                <a:solidFill>
                  <a:srgbClr val="333333"/>
                </a:solidFill>
                <a:latin typeface="Consolas"/>
              </a:rPr>
              <a:t>affinity</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every golden against your own functions</a:t>
            </a:r>
          </a:p>
          <a:p>
            <a:pPr>
              <a:lnSpc>
                <a:spcPts val="2200"/>
              </a:lnSpc>
              <a:spcAft>
                <a:spcPts val="400"/>
              </a:spcAft>
            </a:pPr>
            <a:r>
              <a:rPr sz="2000" b="0">
                <a:solidFill>
                  <a:srgbClr val="333333"/>
                </a:solidFill>
                <a:latin typeface="Consolas"/>
              </a:rPr>
              <a:t>python3 examples/affinity_check.py --impl my_affinity.py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Watch out for four common mistakes</a:t>
            </a:r>
          </a:p>
          <a:p>
            <a:pPr lvl="0" marL="457200" indent="-228600">
              <a:buFont typeface="Calibri"/>
              <a:spcAft>
                <a:spcPts val="1000"/>
              </a:spcAft>
              <a:buSzPct val="100000"/>
              <a:buChar char="•"/>
              <a:lnSpc>
                <a:spcPts val="2200"/>
              </a:lnSpc>
            </a:pPr>
            <a:r>
              <a:rPr sz="2000" b="0">
                <a:solidFill>
                  <a:srgbClr val="333333"/>
                </a:solidFill>
                <a:latin typeface="Calibri"/>
              </a:rPr>
              <a:t>Counting an edge twice, once from each end</a:t>
            </a:r>
          </a:p>
          <a:p>
            <a:pPr lvl="0" marL="457200" indent="-228600">
              <a:buFont typeface="Calibri"/>
              <a:spcAft>
                <a:spcPts val="1000"/>
              </a:spcAft>
              <a:buSzPct val="100000"/>
              <a:buChar char="•"/>
              <a:lnSpc>
                <a:spcPts val="2200"/>
              </a:lnSpc>
            </a:pPr>
            <a:r>
              <a:rPr sz="2000" b="0">
                <a:solidFill>
                  <a:srgbClr val="333333"/>
                </a:solidFill>
                <a:latin typeface="Calibri"/>
              </a:rPr>
              <a:t>Adding the stronger link instead of the weaker one, which makes every pair look close</a:t>
            </a:r>
          </a:p>
          <a:p>
            <a:pPr lvl="0" marL="457200" indent="-228600">
              <a:buFont typeface="Calibri"/>
              <a:spcAft>
                <a:spcPts val="1000"/>
              </a:spcAft>
              <a:buSzPct val="100000"/>
              <a:buChar char="•"/>
              <a:lnSpc>
                <a:spcPts val="2200"/>
              </a:lnSpc>
            </a:pPr>
            <a:r>
              <a:rPr sz="2000" b="0">
                <a:solidFill>
                  <a:srgbClr val="333333"/>
                </a:solidFill>
                <a:latin typeface="Calibri"/>
              </a:rPr>
              <a:t>Forgetting the tie-break, so A–B and D–E swap places from one run to the next</a:t>
            </a:r>
          </a:p>
          <a:p>
            <a:pPr lvl="0" marL="457200" indent="-228600">
              <a:buFont typeface="Calibri"/>
              <a:spcAft>
                <a:spcPts val="1000"/>
              </a:spcAft>
              <a:buSzPct val="100000"/>
              <a:buChar char="•"/>
              <a:lnSpc>
                <a:spcPts val="2200"/>
              </a:lnSpc>
            </a:pPr>
            <a:r>
              <a:rPr sz="2000" b="0">
                <a:solidFill>
                  <a:srgbClr val="333333"/>
                </a:solidFill>
                <a:latin typeface="Calibri"/>
              </a:rPr>
              <a:t>And counting big shared nets at full weight, which glues unrelated cells together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Recap: three recipes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Recipe one, edge weight: look only at the direct wire</a:t>
            </a:r>
          </a:p>
          <a:p>
            <a:pPr lvl="0" marL="457200" indent="-228600">
              <a:buFont typeface="Calibri"/>
              <a:spcAft>
                <a:spcPts val="1000"/>
              </a:spcAft>
              <a:buSzPct val="100000"/>
              <a:buChar char="•"/>
              <a:lnSpc>
                <a:spcPts val="2200"/>
              </a:lnSpc>
            </a:pPr>
            <a:r>
              <a:rPr sz="2000" b="0">
                <a:solidFill>
                  <a:srgbClr val="333333"/>
                </a:solidFill>
                <a:latin typeface="Calibri"/>
              </a:rPr>
              <a:t>Recipe two, shared neighbors: add the help of common friends</a:t>
            </a:r>
          </a:p>
          <a:p>
            <a:pPr lvl="0" marL="457200" indent="-228600">
              <a:buFont typeface="Calibri"/>
              <a:spcAft>
                <a:spcPts val="1000"/>
              </a:spcAft>
              <a:buSzPct val="100000"/>
              <a:buChar char="•"/>
              <a:lnSpc>
                <a:spcPts val="2200"/>
              </a:lnSpc>
            </a:pPr>
            <a:r>
              <a:rPr sz="2000" b="0">
                <a:solidFill>
                  <a:srgbClr val="333333"/>
                </a:solidFill>
                <a:latin typeface="Calibri"/>
              </a:rPr>
              <a:t>Recipe three, pin count: big shared nets count less than private ones</a:t>
            </a:r>
          </a:p>
          <a:p>
            <a:pPr lvl="0" marL="457200" indent="-228600">
              <a:buFont typeface="Calibri"/>
              <a:spcAft>
                <a:spcPts val="1000"/>
              </a:spcAft>
              <a:buSzPct val="100000"/>
              <a:buChar char="•"/>
              <a:lnSpc>
                <a:spcPts val="2200"/>
              </a:lnSpc>
            </a:pPr>
            <a:r>
              <a:rPr sz="2000" b="0">
                <a:solidFill>
                  <a:srgbClr val="333333"/>
                </a:solidFill>
                <a:latin typeface="Calibri"/>
              </a:rPr>
              <a:t>Ties are broken alphabetically, so results never change between runs</a:t>
            </a:r>
          </a:p>
          <a:p>
            <a:pPr lvl="0" marL="457200" indent="-228600">
              <a:buFont typeface="Calibri"/>
              <a:spcAft>
                <a:spcPts val="1000"/>
              </a:spcAft>
              <a:buSzPct val="100000"/>
              <a:buChar char="•"/>
              <a:lnSpc>
                <a:spcPts val="2200"/>
              </a:lnSpc>
            </a:pPr>
            <a:r>
              <a:rPr sz="2000" b="0">
                <a:solidFill>
                  <a:srgbClr val="333333"/>
                </a:solidFill>
                <a:latin typeface="Calibri"/>
              </a:rPr>
              <a:t>Different recipes can choose a different first merge</a:t>
            </a:r>
          </a:p>
          <a:p>
            <a:pPr lvl="0" marL="457200" indent="-228600">
              <a:buFont typeface="Calibri"/>
              <a:spcAft>
                <a:spcPts val="1000"/>
              </a:spcAft>
              <a:buSzPct val="100000"/>
              <a:buChar char="•"/>
              <a:lnSpc>
                <a:spcPts val="2200"/>
              </a:lnSpc>
            </a:pPr>
            <a:r>
              <a:rPr sz="2000" b="0">
                <a:solidFill>
                  <a:srgbClr val="333333"/>
                </a:solidFill>
                <a:latin typeface="Calibri"/>
              </a:rPr>
              <a:t>Choosing the recipe is a design decision, not a detail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Try the browser lab challenges, or write the three recipes yourself and pass the checker</a:t>
            </a:r>
          </a:p>
          <a:p>
            <a:pPr lvl="0" marL="457200" indent="-228600">
              <a:buFont typeface="Calibri"/>
              <a:spcAft>
                <a:spcPts val="1000"/>
              </a:spcAft>
              <a:buSzPct val="100000"/>
              <a:buChar char="•"/>
              <a:lnSpc>
                <a:spcPts val="2200"/>
              </a:lnSpc>
            </a:pPr>
            <a:r>
              <a:rPr sz="2000" b="0">
                <a:solidFill>
                  <a:srgbClr val="333333"/>
                </a:solidFill>
                <a:latin typeface="Calibri"/>
              </a:rPr>
              <a:t>Then explain two things in your own words</a:t>
            </a:r>
          </a:p>
          <a:p>
            <a:pPr lvl="0" marL="457200" indent="-228600">
              <a:buFont typeface="Calibri"/>
              <a:spcAft>
                <a:spcPts val="1000"/>
              </a:spcAft>
              <a:buSzPct val="100000"/>
              <a:buChar char="•"/>
              <a:lnSpc>
                <a:spcPts val="2200"/>
              </a:lnSpc>
            </a:pPr>
            <a:r>
              <a:rPr sz="2000" b="0">
                <a:solidFill>
                  <a:srgbClr val="333333"/>
                </a:solidFill>
                <a:latin typeface="Calibri"/>
              </a:rPr>
              <a:t>First, why does A–C climb with recipe two?</a:t>
            </a:r>
          </a:p>
          <a:p>
            <a:pPr lvl="0" marL="457200" indent="-228600">
              <a:buFont typeface="Calibri"/>
              <a:spcAft>
                <a:spcPts val="1000"/>
              </a:spcAft>
              <a:buSzPct val="100000"/>
              <a:buChar char="•"/>
              <a:lnSpc>
                <a:spcPts val="2200"/>
              </a:lnSpc>
            </a:pPr>
            <a:r>
              <a:rPr sz="2000" b="0">
                <a:solidFill>
                  <a:srgbClr val="333333"/>
                </a:solidFill>
                <a:latin typeface="Calibri"/>
              </a:rPr>
              <a:t>Second, why does the priority graph change its first merge?</a:t>
            </a:r>
          </a:p>
          <a:p>
            <a:pPr lvl="0" marL="457200" indent="-228600">
              <a:buFont typeface="Calibri"/>
              <a:spcAft>
                <a:spcPts val="1000"/>
              </a:spcAft>
              <a:buSzPct val="100000"/>
              <a:buChar char="•"/>
              <a:lnSpc>
                <a:spcPts val="2200"/>
              </a:lnSpc>
            </a:pPr>
            <a:r>
              <a:rPr sz="2000" b="0">
                <a:solidFill>
                  <a:srgbClr val="333333"/>
                </a:solidFill>
                <a:latin typeface="Calibri"/>
              </a:rPr>
              <a:t>Take the short quiz, then move on to greedy pair merge</a:t>
            </a:r>
          </a:p>
          <a:p>
            <a:pPr lvl="0" marL="457200" indent="-228600">
              <a:buFont typeface="Calibri"/>
              <a:spcAft>
                <a:spcPts val="1000"/>
              </a:spcAft>
              <a:buSzPct val="100000"/>
              <a:buChar char="•"/>
              <a:lnSpc>
                <a:spcPts val="2200"/>
              </a:lnSpc>
            </a:pPr>
            <a:r>
              <a:rPr sz="2000" b="0">
                <a:solidFill>
                  <a:srgbClr val="333333"/>
                </a:solidFill>
                <a:latin typeface="Calibri"/>
              </a:rPr>
              <a:t>There, these scores become the rule for merging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