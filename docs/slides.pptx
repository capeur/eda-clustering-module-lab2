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merge cells or coarsen a netlist, you need a score that says these two should stay together. That score is affinity. In this module you’ll compare plain edge weight with shared-neighbor scoring on the same tiny graph—and watch who wants to merge first. Then you’ll see a graph where the two scores disagree, and a third score for real netlists, where one net can touch many cells.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cells A through E with edge weights. Heavy edges A–B and D–E both weigh five; the bridge through C is weaker. Affinity will decide which pairs want to cluster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edge-weight affinity just sorts existing edges. A–B and D–E tie at five; tie-break puts A–B first. That ranking is the simplest merge priority.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and B already share edge weight five. They also share neighbor C. Shared-neighbor affinity adds the minimum of those spokes—one—so A–B rises to six.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shared-neighbor scoring, A–B and D–E lead at six. Weak edge A–C jumps to five because of B. Non-edges like B–D can appear from shared support alone.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Affinity is the objective’s local preference: which cells belong together before global constraints. Bad affinity means bad merges, and harder refinement later.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shared-neighbor score as code. First, every existing edge adds its weight to its pair. Then, for every pair of nodes, look at each neighbor they have in common, and add the smaller of the two connecting weights. If a pair ends up with a score above zero, keep it. Finally, sort by score, highest first, and break ties alphabetically, so your list comes out the same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shared-neighbor scoring the starter graph produces ten pairs, not six. Four of them have no edge at all. B and D both connect to C, so B–D scores the smaller spoke, two. A–D, A–E and B–E each pick up one through C. These pairs aren't mistakes: they say two cells are close even without a direct wire. A pair is only left out when its score would be 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the choice matters. Take a tight triangle P, Q, R, with every edge at weight four, and a lone pair X–Y at weight five. Edge weight picks X–Y first, because five beats four. Shared-neighbor scoring gives P–Q four plus four through R: eight. X–Y has no common neighbor, so it stays at five. Same graph, same merge engine, different first merge.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netlists aren't simple edges. One net can connect many cells, like a reset or an enable line. If you count every shared net at full weight, cells A and B look close just because both see reset. Pin-count scoring fixes this. Each net splits its weight across its pins: weight divided by pins minus one. A two-pin net counts fully. A five-pin net gives only a quarter to each pair.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you do the scoring. Click two nodes to pick a pair, even a pair with no edge, work out its score by hand, and type it in. You can also build your own ranking, one pair at a time, and change edge weights to see which pair merges first. You can switch between all three graphs and all the scores. The ten challenges check what you typed, your ranking and your edits. The breakdown and the full ranking are there for study, but anything they reveal no longer counts.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print both rankings for the starter graph, then for the priority graph, and compare the first line of each table. Then write your own scoring functions, including pin-count, and run the golden checker on your file. It checks all three scores, and it feeds the edges in a scrambled order, so a missing tie-break shows up as a failure.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for four things. Counting an undirected edge twice, once from each end. Adding the larger spoke instead of the smaller one, which makes everything look close. Forgetting the tie-break, so A–B and D–E swap places from run to run. And using raw net counts on a netlist, where wide nets like reset glue unrelated cells together.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all three golden checks, then explain two things in your own words: why A–C climbs under shared-neighbor scoring, and why the priority graph changes its first merge. Take the short quiz, then continue to greedy pair merge, where these scores become the merge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Affinity metrics</a:t>
            </a:r>
          </a:p>
          <a:p>
            <a:pPr algn="ctr">
              <a:lnSpc>
                <a:spcPts val="2200"/>
              </a:lnSpc>
              <a:spcBef>
                <a:spcPts val="1400"/>
              </a:spcBef>
            </a:pPr>
            <a:r>
              <a:rPr sz="2600" b="0">
                <a:solidFill>
                  <a:srgbClr val="333333"/>
                </a:solidFill>
                <a:latin typeface="Calibri"/>
              </a:rPr>
              <a:t>Before you merge cells or coarsen a netlist, you need a score that says these two should stay together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Start with a tiny weighted graph</a:t>
            </a:r>
          </a:p>
        </p:txBody>
      </p:sp>
      <p:pic>
        <p:nvPicPr>
          <p:cNvPr id="3" name="Picture 2" descr="01-raw-graph.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Start with a tiny weighted graph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Edge-weight affinity ranks pairs</a:t>
            </a:r>
          </a:p>
        </p:txBody>
      </p:sp>
      <p:pic>
        <p:nvPicPr>
          <p:cNvPr id="3" name="Picture 2" descr="02-edge-rank.png"/>
          <p:cNvPicPr>
            <a:picLocks noChangeAspect="1"/>
          </p:cNvPicPr>
          <p:nvPr/>
        </p:nvPicPr>
        <p:blipFill>
          <a:blip r:embed="rId2"/>
          <a:stretch>
            <a:fillRect/>
          </a:stretch>
        </p:blipFill>
        <p:spPr>
          <a:xfrm>
            <a:off x="548640" y="1143000"/>
            <a:ext cx="862987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Edge-weight affinity ranks pairs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neighbors boost A–B</a:t>
            </a:r>
          </a:p>
        </p:txBody>
      </p:sp>
      <p:pic>
        <p:nvPicPr>
          <p:cNvPr id="3" name="Picture 2" descr="03-shared-idea.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Shared neighbors boost 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ranking reshuffles the list</a:t>
            </a:r>
          </a:p>
        </p:txBody>
      </p:sp>
      <p:pic>
        <p:nvPicPr>
          <p:cNvPr id="3" name="Picture 2" descr="04-shared-rank.png"/>
          <p:cNvPicPr>
            <a:picLocks noChangeAspect="1"/>
          </p:cNvPicPr>
          <p:nvPr/>
        </p:nvPicPr>
        <p:blipFill>
          <a:blip r:embed="rId2"/>
          <a:stretch>
            <a:fillRect/>
          </a:stretch>
        </p:blipFill>
        <p:spPr>
          <a:xfrm>
            <a:off x="548640" y="1143000"/>
            <a:ext cx="862987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Shared ranking reshuffles the list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affinity matters in EDA</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Why affinity matters in EDA</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Shared-neighbor scoring as 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shared-neighbor score as code</a:t>
            </a:r>
          </a:p>
          <a:p>
            <a:pPr lvl="0" marL="457200" indent="-228600">
              <a:buFont typeface="Calibri"/>
              <a:spcAft>
                <a:spcPts val="1000"/>
              </a:spcAft>
              <a:buSzPct val="100000"/>
              <a:buChar char="•"/>
              <a:lnSpc>
                <a:spcPts val="2200"/>
              </a:lnSpc>
            </a:pPr>
            <a:r>
              <a:rPr sz="2000" b="0">
                <a:solidFill>
                  <a:srgbClr val="333333"/>
                </a:solidFill>
                <a:latin typeface="Calibri"/>
              </a:rPr>
              <a:t>First, every existing edge adds its weight to its pair</a:t>
            </a:r>
          </a:p>
          <a:p>
            <a:pPr lvl="0" marL="457200" indent="-228600">
              <a:buFont typeface="Calibri"/>
              <a:spcAft>
                <a:spcPts val="1000"/>
              </a:spcAft>
              <a:buSzPct val="100000"/>
              <a:buChar char="•"/>
              <a:lnSpc>
                <a:spcPts val="2200"/>
              </a:lnSpc>
            </a:pPr>
            <a:r>
              <a:rPr sz="2000" b="0">
                <a:solidFill>
                  <a:srgbClr val="333333"/>
                </a:solidFill>
                <a:latin typeface="Calibri"/>
              </a:rPr>
              <a:t>Then, for every pair of nodes, look at each neighbor they have in common</a:t>
            </a:r>
          </a:p>
          <a:p>
            <a:pPr lvl="0" marL="457200" indent="-228600">
              <a:buFont typeface="Calibri"/>
              <a:spcAft>
                <a:spcPts val="1000"/>
              </a:spcAft>
              <a:buSzPct val="100000"/>
              <a:buChar char="•"/>
              <a:lnSpc>
                <a:spcPts val="2200"/>
              </a:lnSpc>
            </a:pPr>
            <a:r>
              <a:rPr sz="2000" b="0">
                <a:solidFill>
                  <a:srgbClr val="333333"/>
                </a:solidFill>
                <a:latin typeface="Calibri"/>
              </a:rPr>
              <a:t>If a pair ends up with a score above zero, keep it</a:t>
            </a:r>
          </a:p>
          <a:p>
            <a:pPr lvl="0" marL="457200" indent="-228600">
              <a:buFont typeface="Calibri"/>
              <a:spcAft>
                <a:spcPts val="1000"/>
              </a:spcAft>
              <a:buSzPct val="100000"/>
              <a:buChar char="•"/>
              <a:lnSpc>
                <a:spcPts val="2200"/>
              </a:lnSpc>
            </a:pPr>
            <a:r>
              <a:rPr sz="2000" b="0">
                <a:solidFill>
                  <a:srgbClr val="333333"/>
                </a:solidFill>
                <a:latin typeface="Calibri"/>
              </a:rPr>
              <a:t>Finally, sort by score, highest first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Shared-neighbor scoring as pseudocode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affinity_shared_neighbors(nodes, edges):</a:t>
            </a:r>
          </a:p>
          <a:p>
            <a:pPr>
              <a:lnSpc>
                <a:spcPts val="2200"/>
              </a:lnSpc>
              <a:spcAft>
                <a:spcPts val="400"/>
              </a:spcAft>
            </a:pPr>
            <a:r>
              <a:rPr sz="2000" b="0">
                <a:solidFill>
                  <a:srgbClr val="333333"/>
                </a:solidFill>
                <a:latin typeface="Consolas"/>
              </a:rPr>
              <a:t>  score[u,v] = w(u,v) for every edge</a:t>
            </a:r>
          </a:p>
          <a:p>
            <a:pPr>
              <a:lnSpc>
                <a:spcPts val="2200"/>
              </a:lnSpc>
              <a:spcAft>
                <a:spcPts val="400"/>
              </a:spcAft>
            </a:pPr>
            <a:r>
              <a:rPr sz="2000" b="0">
                <a:solidFill>
                  <a:srgbClr val="333333"/>
                </a:solidFill>
                <a:latin typeface="Consolas"/>
              </a:rPr>
              <a:t>  for every pair (u, v) of nodes:</a:t>
            </a:r>
          </a:p>
          <a:p>
            <a:pPr>
              <a:lnSpc>
                <a:spcPts val="2200"/>
              </a:lnSpc>
              <a:spcAft>
                <a:spcPts val="400"/>
              </a:spcAft>
            </a:pPr>
            <a:r>
              <a:rPr sz="2000" b="0">
                <a:solidFill>
                  <a:srgbClr val="333333"/>
                </a:solidFill>
                <a:latin typeface="Consolas"/>
              </a:rPr>
              <a:t>    s = 0</a:t>
            </a:r>
          </a:p>
          <a:p>
            <a:pPr>
              <a:lnSpc>
                <a:spcPts val="2200"/>
              </a:lnSpc>
              <a:spcAft>
                <a:spcPts val="400"/>
              </a:spcAft>
            </a:pPr>
            <a:r>
              <a:rPr sz="2000" b="0">
                <a:solidFill>
                  <a:srgbClr val="333333"/>
                </a:solidFill>
                <a:latin typeface="Consolas"/>
              </a:rPr>
              <a:t>    for x in neighbors(u), x != v:</a:t>
            </a:r>
          </a:p>
          <a:p>
            <a:pPr>
              <a:lnSpc>
                <a:spcPts val="2200"/>
              </a:lnSpc>
              <a:spcAft>
                <a:spcPts val="400"/>
              </a:spcAft>
            </a:pPr>
            <a:r>
              <a:rPr sz="2000" b="0">
                <a:solidFill>
                  <a:srgbClr val="333333"/>
                </a:solidFill>
                <a:latin typeface="Consolas"/>
              </a:rPr>
              <a:t>      if x in neighbors(v):</a:t>
            </a:r>
          </a:p>
          <a:p>
            <a:pPr>
              <a:lnSpc>
                <a:spcPts val="2200"/>
              </a:lnSpc>
              <a:spcAft>
                <a:spcPts val="400"/>
              </a:spcAft>
            </a:pPr>
            <a:r>
              <a:rPr sz="2000" b="0">
                <a:solidFill>
                  <a:srgbClr val="333333"/>
                </a:solidFill>
                <a:latin typeface="Consolas"/>
              </a:rPr>
              <a:t>        s += min(w(u,x), w(v,x))</a:t>
            </a:r>
          </a:p>
          <a:p>
            <a:pPr>
              <a:lnSpc>
                <a:spcPts val="2200"/>
              </a:lnSpc>
              <a:spcAft>
                <a:spcPts val="400"/>
              </a:spcAft>
            </a:pPr>
            <a:r>
              <a:rPr sz="2000" b="0">
                <a:solidFill>
                  <a:srgbClr val="333333"/>
                </a:solidFill>
                <a:latin typeface="Consolas"/>
              </a:rPr>
              <a:t>    if s &gt; 0 or (u,v) has an edge:</a:t>
            </a:r>
          </a:p>
          <a:p>
            <a:pPr>
              <a:lnSpc>
                <a:spcPts val="2200"/>
              </a:lnSpc>
              <a:spcAft>
                <a:spcPts val="400"/>
              </a:spcAft>
            </a:pPr>
            <a:r>
              <a:rPr sz="2000" b="0">
                <a:solidFill>
                  <a:srgbClr val="333333"/>
                </a:solidFill>
                <a:latin typeface="Consolas"/>
              </a:rPr>
              <a:t>      score[u,v] += s</a:t>
            </a:r>
          </a:p>
          <a:p>
            <a:pPr>
              <a:lnSpc>
                <a:spcPts val="2200"/>
              </a:lnSpc>
              <a:spcAft>
                <a:spcPts val="400"/>
              </a:spcAft>
            </a:pPr>
            <a:r>
              <a:rPr sz="2000" b="0">
                <a:solidFill>
                  <a:srgbClr val="333333"/>
                </a:solidFill>
                <a:latin typeface="Consolas"/>
              </a:rPr>
              <a:t>  sort by score (high first), then u, then v</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Ten pairs, not six</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Under shared-neighbor scoring the starter graph produces ten pairs, not six</a:t>
            </a:r>
          </a:p>
          <a:p>
            <a:pPr lvl="0" marL="457200" indent="-228600">
              <a:buFont typeface="Calibri"/>
              <a:spcAft>
                <a:spcPts val="1000"/>
              </a:spcAft>
              <a:buSzPct val="100000"/>
              <a:buChar char="•"/>
              <a:lnSpc>
                <a:spcPts val="2200"/>
              </a:lnSpc>
            </a:pPr>
            <a:r>
              <a:rPr sz="2000" b="0">
                <a:solidFill>
                  <a:srgbClr val="333333"/>
                </a:solidFill>
                <a:latin typeface="Calibri"/>
              </a:rPr>
              <a:t>Four of them have no edge at all</a:t>
            </a:r>
          </a:p>
          <a:p>
            <a:pPr lvl="0" marL="457200" indent="-228600">
              <a:buFont typeface="Calibri"/>
              <a:spcAft>
                <a:spcPts val="1000"/>
              </a:spcAft>
              <a:buSzPct val="100000"/>
              <a:buChar char="•"/>
              <a:lnSpc>
                <a:spcPts val="2200"/>
              </a:lnSpc>
            </a:pPr>
            <a:r>
              <a:rPr sz="2000" b="0">
                <a:solidFill>
                  <a:srgbClr val="333333"/>
                </a:solidFill>
                <a:latin typeface="Calibri"/>
              </a:rPr>
              <a:t>B and D both connect to C, so B–D scores the smaller spoke, two</a:t>
            </a:r>
          </a:p>
          <a:p>
            <a:pPr lvl="0" marL="457200" indent="-228600">
              <a:buFont typeface="Calibri"/>
              <a:spcAft>
                <a:spcPts val="1000"/>
              </a:spcAft>
              <a:buSzPct val="100000"/>
              <a:buChar char="•"/>
              <a:lnSpc>
                <a:spcPts val="2200"/>
              </a:lnSpc>
            </a:pPr>
            <a:r>
              <a:rPr sz="2000" b="0">
                <a:solidFill>
                  <a:srgbClr val="333333"/>
                </a:solidFill>
                <a:latin typeface="Calibri"/>
              </a:rPr>
              <a:t>A–D, A–E and B–E each pick up one through C</a:t>
            </a:r>
          </a:p>
          <a:p>
            <a:pPr lvl="0" marL="457200" indent="-228600">
              <a:buFont typeface="Calibri"/>
              <a:spcAft>
                <a:spcPts val="1000"/>
              </a:spcAft>
              <a:buSzPct val="100000"/>
              <a:buChar char="•"/>
              <a:lnSpc>
                <a:spcPts val="2200"/>
              </a:lnSpc>
            </a:pPr>
            <a:r>
              <a:rPr sz="2000" b="0">
                <a:solidFill>
                  <a:srgbClr val="333333"/>
                </a:solidFill>
                <a:latin typeface="Calibri"/>
              </a:rPr>
              <a:t>These pairs aren't mistakes: they say two cells are close even without a direct wire</a:t>
            </a:r>
          </a:p>
          <a:p>
            <a:pPr lvl="0" marL="457200" indent="-228600">
              <a:buFont typeface="Calibri"/>
              <a:spcAft>
                <a:spcPts val="1000"/>
              </a:spcAft>
              <a:buSzPct val="100000"/>
              <a:buChar char="•"/>
              <a:lnSpc>
                <a:spcPts val="2200"/>
              </a:lnSpc>
            </a:pPr>
            <a:r>
              <a:rPr sz="2000" b="0">
                <a:solidFill>
                  <a:srgbClr val="333333"/>
                </a:solidFill>
                <a:latin typeface="Calibri"/>
              </a:rPr>
              <a:t>A pair is only left out when its score would be zero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Same graph, different first merge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Here's why the choice matters</a:t>
            </a:r>
          </a:p>
          <a:p>
            <a:pPr lvl="0" marL="457200" indent="-228600">
              <a:buFont typeface="Calibri"/>
              <a:spcAft>
                <a:spcPts val="1000"/>
              </a:spcAft>
              <a:buSzPct val="100000"/>
              <a:buChar char="•"/>
              <a:lnSpc>
                <a:spcPts val="2200"/>
              </a:lnSpc>
            </a:pPr>
            <a:r>
              <a:rPr sz="2000" b="0">
                <a:solidFill>
                  <a:srgbClr val="333333"/>
                </a:solidFill>
                <a:latin typeface="Calibri"/>
              </a:rPr>
              <a:t>Take a tight triangle P, Q, R, with every edge at weight four</a:t>
            </a:r>
          </a:p>
          <a:p>
            <a:pPr lvl="0" marL="457200" indent="-228600">
              <a:buFont typeface="Calibri"/>
              <a:spcAft>
                <a:spcPts val="1000"/>
              </a:spcAft>
              <a:buSzPct val="100000"/>
              <a:buChar char="•"/>
              <a:lnSpc>
                <a:spcPts val="2200"/>
              </a:lnSpc>
            </a:pPr>
            <a:r>
              <a:rPr sz="2000" b="0">
                <a:solidFill>
                  <a:srgbClr val="333333"/>
                </a:solidFill>
                <a:latin typeface="Calibri"/>
              </a:rPr>
              <a:t>Edge weight picks X–Y first, because five beats four</a:t>
            </a:r>
          </a:p>
          <a:p>
            <a:pPr lvl="0" marL="457200" indent="-228600">
              <a:buFont typeface="Calibri"/>
              <a:spcAft>
                <a:spcPts val="1000"/>
              </a:spcAft>
              <a:buSzPct val="100000"/>
              <a:buChar char="•"/>
              <a:lnSpc>
                <a:spcPts val="2200"/>
              </a:lnSpc>
            </a:pPr>
            <a:r>
              <a:rPr sz="2000" b="0">
                <a:solidFill>
                  <a:srgbClr val="333333"/>
                </a:solidFill>
                <a:latin typeface="Calibri"/>
              </a:rPr>
              <a:t>Shared-neighbor scoring gives P–Q four plus four through R: eight</a:t>
            </a:r>
          </a:p>
          <a:p>
            <a:pPr lvl="0" marL="457200" indent="-228600">
              <a:buFont typeface="Calibri"/>
              <a:spcAft>
                <a:spcPts val="1000"/>
              </a:spcAft>
              <a:buSzPct val="100000"/>
              <a:buChar char="•"/>
              <a:lnSpc>
                <a:spcPts val="2200"/>
              </a:lnSpc>
            </a:pPr>
            <a:r>
              <a:rPr sz="2000" b="0">
                <a:solidFill>
                  <a:srgbClr val="333333"/>
                </a:solidFill>
                <a:latin typeface="Calibri"/>
              </a:rPr>
              <a:t>X–Y has no common neighbor, so it stays at five</a:t>
            </a:r>
          </a:p>
          <a:p>
            <a:pPr lvl="0" marL="457200" indent="-228600">
              <a:buFont typeface="Calibri"/>
              <a:spcAft>
                <a:spcPts val="1000"/>
              </a:spcAft>
              <a:buSzPct val="100000"/>
              <a:buChar char="•"/>
              <a:lnSpc>
                <a:spcPts val="2200"/>
              </a:lnSpc>
            </a:pPr>
            <a:r>
              <a:rPr sz="2000" b="0">
                <a:solidFill>
                  <a:srgbClr val="333333"/>
                </a:solidFill>
                <a:latin typeface="Calibri"/>
              </a:rPr>
              <a:t>Same graph, same merge engine, different first merge</a:t>
            </a:r>
          </a:p>
        </p:txBody>
      </p:sp>
      <p:pic>
        <p:nvPicPr>
          <p:cNvPr id="4" name="Picture 3" descr="priority-graph.png"/>
          <p:cNvPicPr>
            <a:picLocks noChangeAspect="1"/>
          </p:cNvPicPr>
          <p:nvPr/>
        </p:nvPicPr>
        <p:blipFill>
          <a:blip r:embed="rId2"/>
          <a:stretch>
            <a:fillRect/>
          </a:stretch>
        </p:blipFill>
        <p:spPr>
          <a:xfrm>
            <a:off x="6172200" y="1234440"/>
            <a:ext cx="3548417"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Nets with many pins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Real netlists aren't simple edges</a:t>
            </a:r>
          </a:p>
          <a:p>
            <a:pPr lvl="0" marL="457200" indent="-228600">
              <a:buFont typeface="Calibri"/>
              <a:spcAft>
                <a:spcPts val="1000"/>
              </a:spcAft>
              <a:buSzPct val="100000"/>
              <a:buChar char="•"/>
              <a:lnSpc>
                <a:spcPts val="2200"/>
              </a:lnSpc>
            </a:pPr>
            <a:r>
              <a:rPr sz="2000" b="0">
                <a:solidFill>
                  <a:srgbClr val="333333"/>
                </a:solidFill>
                <a:latin typeface="Calibri"/>
              </a:rPr>
              <a:t>One net can connect many cells, like a reset or an enable line</a:t>
            </a:r>
          </a:p>
          <a:p>
            <a:pPr lvl="0" marL="457200" indent="-228600">
              <a:buFont typeface="Calibri"/>
              <a:spcAft>
                <a:spcPts val="1000"/>
              </a:spcAft>
              <a:buSzPct val="100000"/>
              <a:buChar char="•"/>
              <a:lnSpc>
                <a:spcPts val="2200"/>
              </a:lnSpc>
            </a:pPr>
            <a:r>
              <a:rPr sz="2000" b="0">
                <a:solidFill>
                  <a:srgbClr val="333333"/>
                </a:solidFill>
                <a:latin typeface="Calibri"/>
              </a:rPr>
              <a:t>If you count every shared net at full weight</a:t>
            </a:r>
          </a:p>
          <a:p>
            <a:pPr lvl="0" marL="457200" indent="-228600">
              <a:buFont typeface="Calibri"/>
              <a:spcAft>
                <a:spcPts val="1000"/>
              </a:spcAft>
              <a:buSzPct val="100000"/>
              <a:buChar char="•"/>
              <a:lnSpc>
                <a:spcPts val="2200"/>
              </a:lnSpc>
            </a:pPr>
            <a:r>
              <a:rPr sz="2000" b="0">
                <a:solidFill>
                  <a:srgbClr val="333333"/>
                </a:solidFill>
                <a:latin typeface="Calibri"/>
              </a:rPr>
              <a:t>Pin-count scoring fixes this</a:t>
            </a:r>
          </a:p>
          <a:p>
            <a:pPr lvl="0" marL="457200" indent="-228600">
              <a:buFont typeface="Calibri"/>
              <a:spcAft>
                <a:spcPts val="1000"/>
              </a:spcAft>
              <a:buSzPct val="100000"/>
              <a:buChar char="•"/>
              <a:lnSpc>
                <a:spcPts val="2200"/>
              </a:lnSpc>
            </a:pPr>
            <a:r>
              <a:rPr sz="2000" b="0">
                <a:solidFill>
                  <a:srgbClr val="333333"/>
                </a:solidFill>
                <a:latin typeface="Calibri"/>
              </a:rPr>
              <a:t>Each net splits its weight across its pins: weight divided by pins minus one</a:t>
            </a:r>
          </a:p>
          <a:p>
            <a:pPr lvl="0" marL="457200" indent="-228600">
              <a:buFont typeface="Calibri"/>
              <a:spcAft>
                <a:spcPts val="1000"/>
              </a:spcAft>
              <a:buSzPct val="100000"/>
              <a:buChar char="•"/>
              <a:lnSpc>
                <a:spcPts val="2200"/>
              </a:lnSpc>
            </a:pPr>
            <a:r>
              <a:rPr sz="2000" b="0">
                <a:solidFill>
                  <a:srgbClr val="333333"/>
                </a:solidFill>
                <a:latin typeface="Calibri"/>
              </a:rPr>
              <a:t>A two-pin net counts fully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Nets with many pins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tiny netlist: en {A,B,C,D,E}, rst {A,B,C,D,E}, n1 {E,F}</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raw net count     pin-count w/(|e|-1)</a:t>
            </a:r>
          </a:p>
          <a:p>
            <a:pPr>
              <a:lnSpc>
                <a:spcPts val="2200"/>
              </a:lnSpc>
              <a:spcAft>
                <a:spcPts val="400"/>
              </a:spcAft>
            </a:pPr>
            <a:r>
              <a:rPr sz="2000" b="0">
                <a:solidFill>
                  <a:srgbClr val="333333"/>
                </a:solidFill>
                <a:latin typeface="Consolas"/>
              </a:rPr>
              <a:t>A-B        1 + 1 = 2         1/4 + 1/4 = 0.5</a:t>
            </a:r>
          </a:p>
          <a:p>
            <a:pPr>
              <a:lnSpc>
                <a:spcPts val="2200"/>
              </a:lnSpc>
              <a:spcAft>
                <a:spcPts val="400"/>
              </a:spcAft>
            </a:pPr>
            <a:r>
              <a:rPr sz="2000" b="0">
                <a:solidFill>
                  <a:srgbClr val="333333"/>
                </a:solidFill>
                <a:latin typeface="Consolas"/>
              </a:rPr>
              <a:t>E-F        1                 1/1 = 1.0</a:t>
            </a:r>
          </a:p>
          <a:p>
            <a:pPr>
              <a:lnSpc>
                <a:spcPts val="2200"/>
              </a:lnSpc>
              <a:spcAft>
                <a:spcPts val="400"/>
              </a:spcAft>
            </a:pPr>
            <a:r>
              <a:rPr sz="2000" b="0">
                <a:solidFill>
                  <a:srgbClr val="333333"/>
                </a:solidFill>
                <a:latin typeface="Consolas"/>
              </a:rPr>
              <a:t>first      A-B               E-F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6854354"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session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 point Python at the shared helpers</a:t>
            </a:r>
          </a:p>
          <a:p>
            <a:pPr>
              <a:lnSpc>
                <a:spcPts val="2200"/>
              </a:lnSpc>
              <a:spcAft>
                <a:spcPts val="400"/>
              </a:spcAft>
            </a:pPr>
            <a:r>
              <a:rPr sz="2000" b="0">
                <a:solidFill>
                  <a:srgbClr val="333333"/>
                </a:solidFill>
                <a:latin typeface="Consolas"/>
              </a:rPr>
              <a:t>export PYTHONPATH=../common</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both graph rankings, starter graph then priority graph</a:t>
            </a:r>
          </a:p>
          <a:p>
            <a:pPr>
              <a:lnSpc>
                <a:spcPts val="2200"/>
              </a:lnSpc>
              <a:spcAft>
                <a:spcPts val="400"/>
              </a:spcAft>
            </a:pPr>
            <a:r>
              <a:rPr sz="2000" b="0">
                <a:solidFill>
                  <a:srgbClr val="333333"/>
                </a:solidFill>
                <a:latin typeface="Consolas"/>
              </a:rPr>
              <a:t>python3 ../common/solvers.py examples/tiny_graph.json --mode</a:t>
            </a:r>
          </a:p>
          <a:p>
            <a:pPr>
              <a:lnSpc>
                <a:spcPts val="2200"/>
              </a:lnSpc>
              <a:spcAft>
                <a:spcPts val="400"/>
              </a:spcAft>
            </a:pPr>
            <a:r>
              <a:rPr sz="2000" b="0">
                <a:solidFill>
                  <a:srgbClr val="333333"/>
                </a:solidFill>
                <a:latin typeface="Consolas"/>
              </a:rPr>
              <a:t>affinity</a:t>
            </a:r>
          </a:p>
          <a:p>
            <a:pPr>
              <a:lnSpc>
                <a:spcPts val="2200"/>
              </a:lnSpc>
              <a:spcAft>
                <a:spcPts val="400"/>
              </a:spcAft>
            </a:pPr>
            <a:r>
              <a:rPr sz="2000" b="0">
                <a:solidFill>
                  <a:srgbClr val="333333"/>
                </a:solidFill>
                <a:latin typeface="Consolas"/>
              </a:rPr>
              <a:t>python3 ../common/solvers.py examples/priority_graph.json --mode</a:t>
            </a:r>
          </a:p>
          <a:p>
            <a:pPr>
              <a:lnSpc>
                <a:spcPts val="2200"/>
              </a:lnSpc>
              <a:spcAft>
                <a:spcPts val="400"/>
              </a:spcAft>
            </a:pPr>
            <a:r>
              <a:rPr sz="2000" b="0">
                <a:solidFill>
                  <a:srgbClr val="333333"/>
                </a:solidFill>
                <a:latin typeface="Consolas"/>
              </a:rPr>
              <a:t>affinity</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check every golden against your own functions</a:t>
            </a:r>
          </a:p>
          <a:p>
            <a:pPr>
              <a:lnSpc>
                <a:spcPts val="2200"/>
              </a:lnSpc>
              <a:spcAft>
                <a:spcPts val="400"/>
              </a:spcAft>
            </a:pPr>
            <a:r>
              <a:rPr sz="2000" b="0">
                <a:solidFill>
                  <a:srgbClr val="333333"/>
                </a:solidFill>
                <a:latin typeface="Consolas"/>
              </a:rPr>
              <a:t>python3 examples/affinity_check.py --impl my_affinity.py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Watch for four things</a:t>
            </a:r>
          </a:p>
          <a:p>
            <a:pPr lvl="0" marL="457200" indent="-228600">
              <a:buFont typeface="Calibri"/>
              <a:spcAft>
                <a:spcPts val="1000"/>
              </a:spcAft>
              <a:buSzPct val="100000"/>
              <a:buChar char="•"/>
              <a:lnSpc>
                <a:spcPts val="2200"/>
              </a:lnSpc>
            </a:pPr>
            <a:r>
              <a:rPr sz="2000" b="0">
                <a:solidFill>
                  <a:srgbClr val="333333"/>
                </a:solidFill>
                <a:latin typeface="Calibri"/>
              </a:rPr>
              <a:t>Counting an undirected edge twice, once from each end</a:t>
            </a:r>
          </a:p>
          <a:p>
            <a:pPr lvl="0" marL="457200" indent="-228600">
              <a:buFont typeface="Calibri"/>
              <a:spcAft>
                <a:spcPts val="1000"/>
              </a:spcAft>
              <a:buSzPct val="100000"/>
              <a:buChar char="•"/>
              <a:lnSpc>
                <a:spcPts val="2200"/>
              </a:lnSpc>
            </a:pPr>
            <a:r>
              <a:rPr sz="2000" b="0">
                <a:solidFill>
                  <a:srgbClr val="333333"/>
                </a:solidFill>
                <a:latin typeface="Calibri"/>
              </a:rPr>
              <a:t>Adding the larger spoke instead of the smaller one, which makes everything look close</a:t>
            </a:r>
          </a:p>
          <a:p>
            <a:pPr lvl="0" marL="457200" indent="-228600">
              <a:buFont typeface="Calibri"/>
              <a:spcAft>
                <a:spcPts val="1000"/>
              </a:spcAft>
              <a:buSzPct val="100000"/>
              <a:buChar char="•"/>
              <a:lnSpc>
                <a:spcPts val="2200"/>
              </a:lnSpc>
            </a:pPr>
            <a:r>
              <a:rPr sz="2000" b="0">
                <a:solidFill>
                  <a:srgbClr val="333333"/>
                </a:solidFill>
                <a:latin typeface="Calibri"/>
              </a:rPr>
              <a:t>Forgetting the tie-break, so A–B and D–E swap places from run to run</a:t>
            </a:r>
          </a:p>
          <a:p>
            <a:pPr lvl="0" marL="457200" indent="-228600">
              <a:buFont typeface="Calibri"/>
              <a:spcAft>
                <a:spcPts val="1000"/>
              </a:spcAft>
              <a:buSzPct val="100000"/>
              <a:buChar char="•"/>
              <a:lnSpc>
                <a:spcPts val="2200"/>
              </a:lnSpc>
            </a:pPr>
            <a:r>
              <a:rPr sz="2000" b="0">
                <a:solidFill>
                  <a:srgbClr val="333333"/>
                </a:solidFill>
                <a:latin typeface="Calibri"/>
              </a:rPr>
              <a:t>And using raw net counts on a netlist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Match all three golden checks, then explain two things in your own words</a:t>
            </a:r>
          </a:p>
          <a:p>
            <a:pPr lvl="0" marL="457200" indent="-228600">
              <a:buFont typeface="Calibri"/>
              <a:spcAft>
                <a:spcPts val="1000"/>
              </a:spcAft>
              <a:buSzPct val="100000"/>
              <a:buChar char="•"/>
              <a:lnSpc>
                <a:spcPts val="2200"/>
              </a:lnSpc>
            </a:pPr>
            <a:r>
              <a:rPr sz="2000" b="0">
                <a:solidFill>
                  <a:srgbClr val="333333"/>
                </a:solidFill>
                <a:latin typeface="Calibri"/>
              </a:rPr>
              <a:t>Take the short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learn_clustering — 01 affinity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